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cb424ff0c754e68" /><Relationship Type="http://schemas.openxmlformats.org/officeDocument/2006/relationships/extended-properties" Target="/docProps/app.xml" Id="Rf46ecb5a73fe48f6" /><Relationship Type="http://schemas.openxmlformats.org/officeDocument/2006/relationships/officeDocument" Target="/ppt/presentation.xml" Id="R1f653710b31e4d3f" /></Relationships>
</file>

<file path=ppt/presentation.xml><?xml version="1.0" encoding="utf-8"?>
<p:presentation xmlns:p="http://schemas.openxmlformats.org/presentationml/2006/main">
  <p:sldMasterIdLst>
    <p:sldMasterId xmlns:r="http://schemas.openxmlformats.org/officeDocument/2006/relationships" id="2147483648" r:id="R51b200a7657a46fd"/>
  </p:sldMasterIdLst>
  <p:notesMasterIdLst>
    <p:notesMasterId xmlns:r="http://schemas.openxmlformats.org/officeDocument/2006/relationships" r:id="R63d837b0f83f408d"/>
  </p:notesMasterIdLst>
  <p:sldIdLst>
    <p:sldId xmlns:r="http://schemas.openxmlformats.org/officeDocument/2006/relationships" id="256" r:id="R83817ea3a0664b77"/>
    <p:sldId xmlns:r="http://schemas.openxmlformats.org/officeDocument/2006/relationships" id="257" r:id="Rced9602eecf244ff"/>
    <p:sldId xmlns:r="http://schemas.openxmlformats.org/officeDocument/2006/relationships" id="258" r:id="Rb427a629495e458d"/>
    <p:sldId xmlns:r="http://schemas.openxmlformats.org/officeDocument/2006/relationships" id="259" r:id="Rabf66ff1fd4540f3"/>
    <p:sldId xmlns:r="http://schemas.openxmlformats.org/officeDocument/2006/relationships" id="260" r:id="Rc77bd0c533df4fc1"/>
    <p:sldId xmlns:r="http://schemas.openxmlformats.org/officeDocument/2006/relationships" id="261" r:id="Re08fb5811f7549f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422d7160b942cb" /><Relationship Type="http://schemas.openxmlformats.org/officeDocument/2006/relationships/slideMaster" Target="/ppt/slideMasters/slideMaster1.xml" Id="R51b200a7657a46fd" /><Relationship Type="http://schemas.openxmlformats.org/officeDocument/2006/relationships/notesMaster" Target="/ppt/notesMasters/notesMaster1.xml" Id="R63d837b0f83f408d" /><Relationship Type="http://schemas.openxmlformats.org/officeDocument/2006/relationships/presProps" Target="/ppt/presProps.xml" Id="Rb38037e8d92b42b4" /><Relationship Type="http://schemas.openxmlformats.org/officeDocument/2006/relationships/tableStyles" Target="/ppt/tableStyles.xml" Id="R0c42413de0cc4129" /><Relationship Type="http://schemas.openxmlformats.org/officeDocument/2006/relationships/slide" Target="/ppt/slides/slide1.xml" Id="R83817ea3a0664b77" /><Relationship Type="http://schemas.openxmlformats.org/officeDocument/2006/relationships/slide" Target="/ppt/slides/slide2.xml" Id="Rced9602eecf244ff" /><Relationship Type="http://schemas.openxmlformats.org/officeDocument/2006/relationships/slide" Target="/ppt/slides/slide3.xml" Id="Rb427a629495e458d" /><Relationship Type="http://schemas.openxmlformats.org/officeDocument/2006/relationships/slide" Target="/ppt/slides/slide4.xml" Id="Rabf66ff1fd4540f3" /><Relationship Type="http://schemas.openxmlformats.org/officeDocument/2006/relationships/slide" Target="/ppt/slides/slide5.xml" Id="Rc77bd0c533df4fc1" /><Relationship Type="http://schemas.openxmlformats.org/officeDocument/2006/relationships/slide" Target="/ppt/slides/slide6.xml" Id="Re08fb5811f7549f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ce0be9d740c40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41f88b5311a4fd5" /><Relationship Type="http://schemas.openxmlformats.org/officeDocument/2006/relationships/notesMaster" Target="/ppt/notesMasters/notesMaster1.xml" Id="Rd8493824c8f34b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c1dfa4b2a8ae46d7" /><Relationship Type="http://schemas.openxmlformats.org/officeDocument/2006/relationships/notesMaster" Target="/ppt/notesMasters/notesMaster1.xml" Id="R944a72903f544b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53a34701cdc4413a" /><Relationship Type="http://schemas.openxmlformats.org/officeDocument/2006/relationships/notesMaster" Target="/ppt/notesMasters/notesMaster1.xml" Id="Rc985501be4df4886" /></Relationships>
</file>

<file path=ppt/notesSlides/_rels/notesSlide4.xml.rels>&#65279;<?xml version="1.0" encoding="utf-8"?><Relationships xmlns="http://schemas.openxmlformats.org/package/2006/relationships"><Relationship Type="http://schemas.openxmlformats.org/officeDocument/2006/relationships/slide" Target="/ppt/slides/slide4.xml" Id="R5a1c6090fc2c4939" /><Relationship Type="http://schemas.openxmlformats.org/officeDocument/2006/relationships/notesMaster" Target="/ppt/notesMasters/notesMaster1.xml" Id="Rf46fec3647ab4aef" /></Relationships>
</file>

<file path=ppt/notesSlides/_rels/notesSlide5.xml.rels>&#65279;<?xml version="1.0" encoding="utf-8"?><Relationships xmlns="http://schemas.openxmlformats.org/package/2006/relationships"><Relationship Type="http://schemas.openxmlformats.org/officeDocument/2006/relationships/slide" Target="/ppt/slides/slide5.xml" Id="R8c7e730f0a1f45c4" /><Relationship Type="http://schemas.openxmlformats.org/officeDocument/2006/relationships/notesMaster" Target="/ppt/notesMasters/notesMaster1.xml" Id="Rde2d6512574f4a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40de48de0d0d4d80" /><Relationship Type="http://schemas.openxmlformats.org/officeDocument/2006/relationships/notesMaster" Target="/ppt/notesMasters/notesMaster1.xml" Id="R56d963c2bce944e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0:00–0:40.</a:t>
            </a:r>
          </a:p>
          <a:p xmlns:a="http://schemas.openxmlformats.org/drawingml/2006/main">
            <a:r>
              <a:t/>
            </a:r>
          </a:p>
          <a:p xmlns:a="http://schemas.openxmlformats.org/drawingml/2006/main">
            <a:r>
              <a:t>Spoken explanation:</a:t>
            </a:r>
          </a:p>
          <a:p xmlns:a="http://schemas.openxmlformats.org/drawingml/2006/main">
            <a:r>
              <a:t>This study asks how accurately and efficiently two numerical methods can predict the cooling of an idealised plate. The plate starts at 100 degrees Celsius inside, while both faces remain at 20 degrees. The target is when the hottest point reaches 40 degrees. The full thickness is ten millimetres and diffusivity is an illustrative ten to the minus five square metres per second. The output is a temperature field and a cooling time. These synthetic inputs support a controlled numerical comparison. A real cooling process needs justified properties and boundary data.</a:t>
            </a:r>
          </a:p>
          <a:p xmlns:a="http://schemas.openxmlformats.org/drawingml/2006/main">
            <a:r>
              <a:t/>
            </a:r>
          </a:p>
          <a:p xmlns:a="http://schemas.openxmlformats.org/drawingml/2006/main">
            <a:r>
              <a:t>Sources: results/summary.json (plate and intended numerical output); configs/; docs/data_provenance.md. Engineering assumptions: docs/engineering_derivation.md. Original project brief pp. 4 and 8 require primary input/output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0:40–1:20.</a:t>
            </a:r>
          </a:p>
          <a:p xmlns:a="http://schemas.openxmlformats.org/drawingml/2006/main">
            <a:r>
              <a:t/>
            </a:r>
          </a:p>
          <a:p xmlns:a="http://schemas.openxmlformats.org/drawingml/2006/main">
            <a:r>
              <a:t>Spoken explanation:</a:t>
            </a:r>
          </a:p>
          <a:p xmlns:a="http://schemas.openxmlformats.org/drawingml/2006/main">
            <a:r>
              <a:t>The governing equation describes heat diffusion in one direction. FTCS calculates every new interior temperature from the previous field. Its diffusion number combines diffusivity, step duration and squared grid spacing. The normal explicit runs enforce a limit of one half. Backward Euler instead uses the new field and solves a tridiagonal linear system. Known face temperatures enter the right-hand side with positive signs. Both methods have first-order time and second-order spatial accuracy for smooth solutions. Implicit stability permits large time steps, but those steps can still introduce unacceptable error.</a:t>
            </a:r>
          </a:p>
          <a:p xmlns:a="http://schemas.openxmlformats.org/drawingml/2006/main">
            <a:r>
              <a:t/>
            </a:r>
          </a:p>
          <a:p xmlns:a="http://schemas.openxmlformats.org/drawingml/2006/main">
            <a:r>
              <a:t>Sources: src/heat_project/solvers.py and model.py; docs/engineering_derivation.md. Primary method reference: https://persson.berkeley.edu/math228b/html/finite_difference_methods_for_PDEs.html . Banded solver contract: https://docs.scipy.org/doc/scipy/reference/generated/scipy.linalg.solve_banded.html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1:20–2:10.</a:t>
            </a:r>
          </a:p>
          <a:p xmlns:a="http://schemas.openxmlformats.org/drawingml/2006/main">
            <a:r>
              <a:t/>
            </a:r>
          </a:p>
          <a:p xmlns:a="http://schemas.openxmlformats.org/drawingml/2006/main">
            <a:r>
              <a:t>Spoken explanation:</a:t>
            </a:r>
          </a:p>
          <a:p xmlns:a="http://schemas.openxmlformats.org/drawingml/2006/main">
            <a:r>
              <a:t>Verification starts with an exact sine solution that satisfies the boundary conditions from the beginning. A separate odd-sine series represents uniform cooling. Its converged centre crossing is 1.649365 seconds. The plotted refinement fixes the time step at ten to the minus five seconds and evaluates the smooth solution at point two seconds. The observed spatial orders approach two. A semidiscrete sine reference isolates temporal error, with observed order near one. Tests also check the tiny implicit system, boundaries, symmetry and input rejection. These checks verify the mathematical implementation. They do not establish measured physical accuracy.</a:t>
            </a:r>
          </a:p>
          <a:p xmlns:a="http://schemas.openxmlformats.org/drawingml/2006/main">
            <a:r>
              <a:t/>
            </a:r>
          </a:p>
          <a:p xmlns:a="http://schemas.openxmlformats.org/drawingml/2006/main">
            <a:r>
              <a:t>Questions to anticipate: distinguish the compatible sine benchmark from the uniform initial condition. Explain the K-versus-2K series check and adaptive absolute tail bound. State that spatial time-halving changes are about 3.2e-5 degC. Explain why temporal comparison uses the exact semidiscrete eigenmode.</a:t>
            </a:r>
          </a:p>
          <a:p xmlns:a="http://schemas.openxmlformats.org/drawingml/2006/main">
            <a:r>
              <a:t/>
            </a:r>
          </a:p>
          <a:p xmlns:a="http://schemas.openxmlformats.org/drawingml/2006/main">
            <a:r>
              <a:t>Sources: results/tables/spatial_convergence.csv, temporal_convergence.csv, smooth_verification.csv, reference_convergence.csv; results/summary.json; tests/ and reports/test_report.html. Verification versus physical validation: https://public.ksc.nasa.gov/mns/faq/ . Slab initial-boundary jump: https://doc.comsol.com/6.4/doc/com.comsol.help.models.heat.heat_conduction_in_slab/heat_conduction_in_slab.html . The native editable chart uses CSV-derived values rounded to 12 significant digits for Excel workbook portability. Canonical CSV evidence retains full precision.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2:10–3:00.</a:t>
            </a:r>
          </a:p>
          <a:p xmlns:a="http://schemas.openxmlformats.org/drawingml/2006/main">
            <a:r>
              <a:t/>
            </a:r>
          </a:p>
          <a:p xmlns:a="http://schemas.openxmlformats.org/drawingml/2006/main">
            <a:r>
              <a:t>Spoken explanation:</a:t>
            </a:r>
          </a:p>
          <a:p xmlns:a="http://schemas.openxmlformats.org/drawingml/2006/main">
            <a:r>
              <a:t>The final selected setting uses twenty intervals and an explicit step of 0.00625 seconds. Its maximum benchmark error is 0.589 degrees, crossing error is 0.229 percent and median solver time is 2.873 milliseconds. The first faster choice failed a transfer case at 1.180 degrees. That failure became development evidence and prompted a stricter point eight degree development margin. The acceptance limit stayed at one degree. A fresh confirmation then reached 0.552 degrees and 0.214 percent crossing error without further tuning. This is selection within the measured candidate set on this machine.</a:t>
            </a:r>
          </a:p>
          <a:p xmlns:a="http://schemas.openxmlformats.org/drawingml/2006/main">
            <a:r>
              <a:t/>
            </a:r>
          </a:p>
          <a:p xmlns:a="http://schemas.openxmlformats.org/drawingml/2006/main">
            <a:r>
              <a:t>Decision detail: original criteria were max field error &lt;=1 degC at t=[0.1, 0.5, 1.0, 2.0, 3.0] s, crossing error &lt;=2%, physical bounds and less than 1% crossing change on refinement. Selected refinement change 0.171801%. The initial baseline winner had only 0.006 degC margin and failed the first larger-temperature-span case. The added &lt;=0.8 degC development margin is openly post hoc. The old case is reused development evidence. The final new case uses L=0.018 m, alpha=1.3e-5 m²/s, Ti=90, Tb=15, target=30 degC. It is a new mathematical check after revision, not experimental validation. Overall baseline-to-selected ratio 11.652324. Separate N=160 loop/vector equivalence has zero observed output difference and 8.053516 speedup.</a:t>
            </a:r>
          </a:p>
          <a:p xmlns:a="http://schemas.openxmlformats.org/drawingml/2006/main">
            <a:r>
              <a:t/>
            </a:r>
          </a:p>
          <a:p xmlns:a="http://schemas.openxmlformats.org/drawingml/2006/main">
            <a:r>
              <a:t>Sources: results/summary.json and results/tables/candidate_comparison.csv, optimisation.csv. Timing protocol: warm solve, three independent batches, target batch duration at least 40 ms with a cap of 20 solves per batch, median per-solve times. Snapshot output, plotting, references and disk I/O excluded. Scalar maximum history remains. Results are environment-specific. Read summary design_revision, initial_confirmation and reused_case_development_check for the full revision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3:00–3:40.</a:t>
            </a:r>
          </a:p>
          <a:p xmlns:a="http://schemas.openxmlformats.org/drawingml/2006/main">
            <a:r>
              <a:t/>
            </a:r>
          </a:p>
          <a:p xmlns:a="http://schemas.openxmlformats.org/drawingml/2006/main">
            <a:r>
              <a:t>Spoken explanation:</a:t>
            </a:r>
          </a:p>
          <a:p xmlns:a="http://schemas.openxmlformats.org/drawingml/2006/main">
            <a:r>
              <a:t>The sensitivity follows the heat equation's dimensionless time. Cooling time scales with thickness squared divided by diffusivity when the normalised target stays fixed. Doubling the thickness therefore multiplies the time by four. Doubling diffusivity halves it. The numerical ratios follow those predictions. The main physical limitation is the fixed face temperature. Real convection, contact resistance, lateral loss or changing properties could change the result. Independent measurements would be the next step before using the model for a real thermal process.</a:t>
            </a:r>
          </a:p>
          <a:p xmlns:a="http://schemas.openxmlformats.org/drawingml/2006/main">
            <a:r>
              <a:t/>
            </a:r>
          </a:p>
          <a:p xmlns:a="http://schemas.openxmlformats.org/drawingml/2006/main">
            <a:r>
              <a:t>Sources: results/tables/sensitivity.csv and docs/engineering_derivation.md. Plotted values are numerical threshold time divided by the corresponding numerical baseline, rounded to 12 significant digits for portable editable workbook storage. Fixed Fourier number and target ratio make the scaling exact for the mathematical model. No empirical dataset is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3:40–5:00.</a:t>
            </a:r>
          </a:p>
          <a:p xmlns:a="http://schemas.openxmlformats.org/drawingml/2006/main">
            <a:r>
              <a:t/>
            </a:r>
          </a:p>
          <a:p xmlns:a="http://schemas.openxmlformats.org/drawingml/2006/main">
            <a:r>
              <a:t>Spoken explanation:</a:t>
            </a:r>
          </a:p>
          <a:p xmlns:a="http://schemas.openxmlformats.org/drawingml/2006/main">
            <a:r>
              <a:t>The repository contains reproducible commands, documented solvers, generated HTML, tests and saved evidence. Codex authored substantial code, tests, analysis and report drafts. The student remains responsible for reviewing the material and explaining the reasoning independently. The demonstration now follows one result from the README through the source documentation and test report, then shows the genuine repository history.</a:t>
            </a:r>
          </a:p>
          <a:p xmlns:a="http://schemas.openxmlformats.org/drawingml/2006/main">
            <a:r>
              <a:t/>
            </a:r>
          </a:p>
          <a:p xmlns:a="http://schemas.openxmlformats.org/drawingml/2006/main">
            <a:r>
              <a:t>Repository walkthrough within the slide's 80 seconds: spend about 15 s on README, folders and one short command; about 20 s on generated API documentation and the actual FTCS update or BE boundary RHS; about 15 s on the final test report and one test's purpose; about 10 s on genuine Git history/actual hosted main branch if available; use the final 20 s for the selected result, model limit and AI disclosure. Keep windows prepared. A local folder does not itself demonstrate hosted GitHub access. Describe only personal review actually completed. If the hosted URL is not ready, state that directly.</a:t>
            </a:r>
          </a:p>
          <a:p xmlns:a="http://schemas.openxmlformats.org/drawingml/2006/main">
            <a:r>
              <a:t/>
            </a:r>
          </a:p>
          <a:p xmlns:a="http://schemas.openxmlformats.org/drawingml/2006/main">
            <a:r>
              <a:t>Sources: README.md, docs/html/, reports/test_report.html, source and actual repository history; notes/ai_use_log.md. Original MMA3001 project brief pp. 6 and 9 requires disclosed AI use and unaided individual presentation/interview responses. No hosted URL or personal learning claim is invented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3e0fe6577c49f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749b874ffd5432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9fdbf4401744f1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cc3873aa53646e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9798d346430468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2e9924e323247f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1079CA6-08BB-4866-B037-370D9C1A322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653FFA4-A130-42B3-AD63-E9352CEFA27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FD00E23-E891-43F4-BBD8-15706BB7989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481438-A62C-4CD6-8A73-B1AC0CD05CE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FE1833F-62D9-436E-9EA4-B181F51B7DE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EE65AFE-4CDF-4E4F-B261-55DF74713BE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F3C7BA8-2AE6-4092-9ED0-C9E55D35DE0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70038D4-DCB9-4C69-8ED6-7ECC44E2476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49F1C0D-2D3D-43F8-9DA2-AE130E82840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C5E83AB-D3FC-466D-8DDD-D7BE327437E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5cd0c78d500497e" /><Relationship Type="http://schemas.openxmlformats.org/officeDocument/2006/relationships/slideLayout" Target="/ppt/slideLayouts/slideLayout1.xml" Id="Rf36f923aff444cc5" /><Relationship Type="http://schemas.openxmlformats.org/officeDocument/2006/relationships/slideLayout" Target="/ppt/slideLayouts/slideLayout2.xml" Id="R46be9e005388477d" /><Relationship Type="http://schemas.openxmlformats.org/officeDocument/2006/relationships/slideLayout" Target="/ppt/slideLayouts/slideLayout3.xml" Id="Ra1dda637709c44a9" /><Relationship Type="http://schemas.openxmlformats.org/officeDocument/2006/relationships/slideLayout" Target="/ppt/slideLayouts/slideLayout4.xml" Id="R92422832b179446b" /><Relationship Type="http://schemas.openxmlformats.org/officeDocument/2006/relationships/slideLayout" Target="/ppt/slideLayouts/slideLayout5.xml" Id="R8f9eff17bb674504" /><Relationship Type="http://schemas.openxmlformats.org/officeDocument/2006/relationships/slideLayout" Target="/ppt/slideLayouts/slideLayout6.xml" Id="R2f9450b84bdc48d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36f923aff444cc5"/>
    <p:sldLayoutId xmlns:r="http://schemas.openxmlformats.org/officeDocument/2006/relationships" id="2147483650" r:id="R46be9e005388477d"/>
    <p:sldLayoutId xmlns:r="http://schemas.openxmlformats.org/officeDocument/2006/relationships" id="2147483651" r:id="Ra1dda637709c44a9"/>
    <p:sldLayoutId xmlns:r="http://schemas.openxmlformats.org/officeDocument/2006/relationships" id="2147483652" r:id="R92422832b179446b"/>
    <p:sldLayoutId xmlns:r="http://schemas.openxmlformats.org/officeDocument/2006/relationships" id="2147483653" r:id="R8f9eff17bb674504"/>
    <p:sldLayoutId xmlns:r="http://schemas.openxmlformats.org/officeDocument/2006/relationships" id="2147483654" r:id="R2f9450b84bdc48d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de9ed32f6684912" /><Relationship Type="http://schemas.openxmlformats.org/officeDocument/2006/relationships/notesSlide" Target="/ppt/notesSlides/notesSlide1.xml" Id="R1a4cb805031849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2e99836abc1460d" /><Relationship Type="http://schemas.openxmlformats.org/officeDocument/2006/relationships/notesSlide" Target="/ppt/notesSlides/notesSlide2.xml" Id="Re8defd9180af4c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491003a73fb42b6" /><Relationship Type="http://schemas.openxmlformats.org/officeDocument/2006/relationships/chart" Target="/ppt/slides/charts/chart1.xml" Id="R03c8f41106fe4145" /><Relationship Type="http://schemas.openxmlformats.org/officeDocument/2006/relationships/notesSlide" Target="/ppt/notesSlides/notesSlide3.xml" Id="R721ddb9b922749b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f4f7b9a684d4176" /><Relationship Type="http://schemas.openxmlformats.org/officeDocument/2006/relationships/notesSlide" Target="/ppt/notesSlides/notesSlide4.xml" Id="Rb017d799a50b4c3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d0e67eabd444e8a" /><Relationship Type="http://schemas.openxmlformats.org/officeDocument/2006/relationships/chart" Target="/ppt/slides/charts/chart2.xml" Id="Rd854b4a8e6e64c7c" /><Relationship Type="http://schemas.openxmlformats.org/officeDocument/2006/relationships/notesSlide" Target="/ppt/notesSlides/notesSlide5.xml" Id="R62e39a69415e48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439b35122c84119" /><Relationship Type="http://schemas.openxmlformats.org/officeDocument/2006/relationships/notesSlide" Target="/ppt/notesSlides/notesSlide6.xml" Id="Rece70ef973ef465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a:solidFill>
                  <a:srgbClr val="132A3A"/>
                </a:solidFill>
                <a:latin typeface="Helvetica Neue"/>
                <a:ea typeface="Helvetica Neue"/>
                <a:cs typeface="Helvetica Neue"/>
              </a:rPr>
              <a:t>Smooth spatial refinement</a:t>
            </a:r>
          </a:p>
        </c:rich>
      </c:tx>
      <c:overlay val="0"/>
      <c:txPr>
        <a:bodyPr xmlns:a="http://schemas.openxmlformats.org/drawingml/2006/main" anchorCtr="1"/>
        <a:lstStyle xmlns:a="http://schemas.openxmlformats.org/drawingml/2006/main"/>
        <a:p xmlns:a="http://schemas.openxmlformats.org/drawingml/2006/main">
          <a:pPr>
            <a:defRPr sz="1875">
              <a:solidFill>
                <a:srgbClr val="132A3A"/>
              </a:solidFill>
              <a:latin typeface="Helvetica Neue"/>
              <a:ea typeface="Helvetica Neue"/>
              <a:cs typeface="Helvetica Neue"/>
            </a:defRPr>
          </a:pPr>
        </a:p>
      </c:txPr>
    </c:title>
    <c:plotArea>
      <c:lineChart>
        <c:grouping val="standard"/>
        <c:varyColors val="0"/>
        <c:ser>
          <c:idx val="0"/>
          <c:order val="0"/>
          <c:tx>
            <c:v>FTCS</c:v>
          </c:tx>
          <c:spPr>
            <a:ln xmlns:a="http://schemas.openxmlformats.org/drawingml/2006/main" w="28575">
              <a:solidFill>
                <a:srgbClr val="007F87"/>
              </a:solidFill>
            </a:ln>
          </c:spPr>
          <c:marker>
            <c:symbol val="circle"/>
            <c:size val="7"/>
            <c:spPr>
              <a:solidFill xmlns:a="http://schemas.openxmlformats.org/drawingml/2006/main">
                <a:srgbClr val="007F87"/>
              </a:solidFill>
            </c:spPr>
          </c:marker>
          <c:cat>
            <c:numRef>
              <c:f>'Chart Data'!$A$2:$A$5</c:f>
              <c:numCache>
                <c:formatCode>General</c:formatCode>
                <c:ptCount val="4"/>
                <c:pt idx="0">
                  <c:v>10</c:v>
                </c:pt>
                <c:pt idx="1">
                  <c:v>20</c:v>
                </c:pt>
                <c:pt idx="2">
                  <c:v>40</c:v>
                </c:pt>
                <c:pt idx="3">
                  <c:v>80</c:v>
                </c:pt>
              </c:numCache>
            </c:numRef>
          </c:cat>
          <c:val>
            <c:numRef>
              <c:f>'Chart Data'!$B$2:$B$5</c:f>
              <c:numCache>
                <c:formatCode>0.000</c:formatCode>
                <c:ptCount val="4"/>
                <c:pt idx="0">
                  <c:v>0.106286303189</c:v>
                </c:pt>
                <c:pt idx="1">
                  <c:v>0.026573115727</c:v>
                </c:pt>
                <c:pt idx="2">
                  <c:v>0.00659839842275</c:v>
                </c:pt>
                <c:pt idx="3">
                  <c:v>0.00160181677353</c:v>
                </c:pt>
              </c:numCache>
            </c:numRef>
          </c:val>
          <c:smooth val="0"/>
        </c:ser>
        <c:ser>
          <c:idx val="1"/>
          <c:order val="1"/>
          <c:tx>
            <c:v>Backward Euler</c:v>
          </c:tx>
          <c:spPr>
            <a:ln xmlns:a="http://schemas.openxmlformats.org/drawingml/2006/main" w="19050">
              <a:solidFill>
                <a:srgbClr val="BD551E"/>
              </a:solidFill>
            </a:ln>
          </c:spPr>
          <c:marker>
            <c:symbol val="diamond"/>
            <c:size val="7"/>
            <c:spPr>
              <a:solidFill xmlns:a="http://schemas.openxmlformats.org/drawingml/2006/main">
                <a:srgbClr val="BD551E"/>
              </a:solidFill>
            </c:spPr>
          </c:marker>
          <c:cat>
            <c:numRef>
              <c:f>'Chart Data'!$C$2:$C$5</c:f>
              <c:numCache>
                <c:formatCode>General</c:formatCode>
                <c:ptCount val="4"/>
                <c:pt idx="0">
                  <c:v>10</c:v>
                </c:pt>
                <c:pt idx="1">
                  <c:v>20</c:v>
                </c:pt>
                <c:pt idx="2">
                  <c:v>40</c:v>
                </c:pt>
                <c:pt idx="3">
                  <c:v>80</c:v>
                </c:pt>
              </c:numCache>
            </c:numRef>
          </c:cat>
          <c:val>
            <c:numRef>
              <c:f>'Chart Data'!$D$2:$D$5</c:f>
              <c:numCache>
                <c:formatCode>0.000</c:formatCode>
                <c:ptCount val="4"/>
                <c:pt idx="0">
                  <c:v>0.106412354005</c:v>
                </c:pt>
                <c:pt idx="1">
                  <c:v>0.0267005782107</c:v>
                </c:pt>
                <c:pt idx="2">
                  <c:v>0.00672621607707</c:v>
                </c:pt>
                <c:pt idx="3">
                  <c:v>0.00172972326857</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solidFill>
                      <a:srgbClr val="132A3A"/>
                    </a:solidFill>
                    <a:latin typeface="Helvetica Neue"/>
                    <a:ea typeface="Helvetica Neue"/>
                    <a:cs typeface="Helvetica Neue"/>
                  </a:rPr>
                  <a:t>Intervals N</a:t>
                </a:r>
              </a:p>
            </c:rich>
          </c:tx>
          <c:overlay val="0"/>
          <c:txPr>
            <a:bodyPr xmlns:a="http://schemas.openxmlformats.org/drawingml/2006/main" anchorCtr="1"/>
            <a:lstStyle xmlns:a="http://schemas.openxmlformats.org/drawingml/2006/main"/>
            <a:p xmlns:a="http://schemas.openxmlformats.org/drawingml/2006/main">
              <a:pPr>
                <a:defRPr sz="1650">
                  <a:solidFill>
                    <a:srgbClr val="132A3A"/>
                  </a:solidFill>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49616E"/>
                </a:solidFill>
                <a:latin typeface="Helvetica Neue"/>
                <a:ea typeface="Helvetica Neue"/>
                <a:cs typeface="Helvetica Neue"/>
              </a:defRPr>
            </a:pPr>
          </a:p>
        </c:txPr>
        <c:crossAx val="48672768"/>
      </c:catAx>
      <c:valAx>
        <c:axId val="48672768"/>
        <c:scaling>
          <c:orientation val="minMax"/>
          <c:min val="0"/>
        </c:scaling>
        <c:delete val="0"/>
        <c:axPos val="l"/>
        <c:majorGridlines>
          <c:spPr>
            <a:ln xmlns:a="http://schemas.openxmlformats.org/drawingml/2006/main" w="9525">
              <a:solidFill>
                <a:srgbClr val="D7E1E6"/>
              </a:solidFill>
            </a:ln>
          </c:spPr>
        </c:majorGridlines>
        <c:title>
          <c:tx>
            <c:rich>
              <a:bodyPr xmlns:a="http://schemas.openxmlformats.org/drawingml/2006/main"/>
              <a:lstStyle xmlns:a="http://schemas.openxmlformats.org/drawingml/2006/main"/>
              <a:p xmlns:a="http://schemas.openxmlformats.org/drawingml/2006/main">
                <a:r>
                  <a:rPr sz="1650">
                    <a:solidFill>
                      <a:srgbClr val="132A3A"/>
                    </a:solidFill>
                    <a:latin typeface="Helvetica Neue"/>
                    <a:ea typeface="Helvetica Neue"/>
                    <a:cs typeface="Helvetica Neue"/>
                  </a:rPr>
                  <a:t>Maximum error (°C)</a:t>
                </a:r>
              </a:p>
            </c:rich>
          </c:tx>
          <c:overlay val="0"/>
          <c:txPr>
            <a:bodyPr xmlns:a="http://schemas.openxmlformats.org/drawingml/2006/main" anchorCtr="1"/>
            <a:lstStyle xmlns:a="http://schemas.openxmlformats.org/drawingml/2006/main"/>
            <a:p xmlns:a="http://schemas.openxmlformats.org/drawingml/2006/main">
              <a:pPr>
                <a:defRPr sz="1650">
                  <a:solidFill>
                    <a:srgbClr val="132A3A"/>
                  </a:solidFill>
                  <a:latin typeface="Helvetica Neue"/>
                  <a:ea typeface="Helvetica Neue"/>
                  <a:cs typeface="Helvetica Neue"/>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49616E"/>
                </a:solidFill>
                <a:latin typeface="Helvetica Neue"/>
                <a:ea typeface="Helvetica Neue"/>
                <a:cs typeface="Helvetica Neue"/>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32A3A"/>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a:solidFill>
                  <a:srgbClr val="132A3A"/>
                </a:solidFill>
                <a:latin typeface="Helvetica Neue"/>
                <a:ea typeface="Helvetica Neue"/>
                <a:cs typeface="Helvetica Neue"/>
              </a:rPr>
              <a:t>Cooling time relative to baseline</a:t>
            </a:r>
          </a:p>
        </c:rich>
      </c:tx>
      <c:overlay val="0"/>
      <c:txPr>
        <a:bodyPr xmlns:a="http://schemas.openxmlformats.org/drawingml/2006/main" anchorCtr="1"/>
        <a:lstStyle xmlns:a="http://schemas.openxmlformats.org/drawingml/2006/main"/>
        <a:p xmlns:a="http://schemas.openxmlformats.org/drawingml/2006/main">
          <a:pPr>
            <a:defRPr sz="1875">
              <a:solidFill>
                <a:srgbClr val="132A3A"/>
              </a:solidFill>
              <a:latin typeface="Helvetica Neue"/>
              <a:ea typeface="Helvetica Neue"/>
              <a:cs typeface="Helvetica Neue"/>
            </a:defRPr>
          </a:pPr>
        </a:p>
      </c:txPr>
    </c:title>
    <c:plotArea>
      <c:barChart>
        <c:barDir val="col"/>
        <c:grouping val="clustered"/>
        <c:varyColors val="0"/>
        <c:ser>
          <c:idx val="0"/>
          <c:order val="0"/>
          <c:tx>
            <c:v>Thickness L</c:v>
          </c:tx>
          <c:spPr>
            <a:solidFill xmlns:a="http://schemas.openxmlformats.org/drawingml/2006/main">
              <a:srgbClr val="007F87"/>
            </a:solidFill>
          </c:spPr>
          <c:invertIfNegative val="0"/>
          <c:cat>
            <c:numRef>
              <c:f>'Chart Data'!$A$2:$A$4</c:f>
              <c:numCache>
                <c:formatCode>General</c:formatCode>
                <c:ptCount val="3"/>
                <c:pt idx="0">
                  <c:v>0.5</c:v>
                </c:pt>
                <c:pt idx="1">
                  <c:v>1.0</c:v>
                </c:pt>
                <c:pt idx="2">
                  <c:v>2.0</c:v>
                </c:pt>
              </c:numCache>
            </c:numRef>
          </c:cat>
          <c:val>
            <c:numRef>
              <c:f>'Chart Data'!$B$2:$B$4</c:f>
              <c:numCache>
                <c:formatCode>0.0</c:formatCode>
                <c:ptCount val="3"/>
                <c:pt idx="0">
                  <c:v>0.25</c:v>
                </c:pt>
                <c:pt idx="1">
                  <c:v>1</c:v>
                </c:pt>
                <c:pt idx="2">
                  <c:v>4</c:v>
                </c:pt>
              </c:numCache>
            </c:numRef>
          </c:val>
        </c:ser>
        <c:ser>
          <c:idx val="1"/>
          <c:order val="1"/>
          <c:tx>
            <c:v>Diffusivity alpha</c:v>
          </c:tx>
          <c:spPr>
            <a:solidFill xmlns:a="http://schemas.openxmlformats.org/drawingml/2006/main">
              <a:srgbClr val="BD551E"/>
            </a:solidFill>
          </c:spPr>
          <c:invertIfNegative val="0"/>
          <c:cat>
            <c:numRef>
              <c:f>'Chart Data'!$C$2:$C$4</c:f>
              <c:numCache>
                <c:formatCode>General</c:formatCode>
                <c:ptCount val="3"/>
                <c:pt idx="0">
                  <c:v>0.5</c:v>
                </c:pt>
                <c:pt idx="1">
                  <c:v>1.0</c:v>
                </c:pt>
                <c:pt idx="2">
                  <c:v>2.0</c:v>
                </c:pt>
              </c:numCache>
            </c:numRef>
          </c:cat>
          <c:val>
            <c:numRef>
              <c:f>'Chart Data'!$D$2:$D$4</c:f>
              <c:numCache>
                <c:formatCode>0.0</c:formatCode>
                <c:ptCount val="3"/>
                <c:pt idx="0">
                  <c:v>2</c:v>
                </c:pt>
                <c:pt idx="1">
                  <c:v>1</c:v>
                </c:pt>
                <c:pt idx="2">
                  <c:v>0.5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350">
                  <a:solidFill>
                    <a:srgbClr val="132A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solidFill>
                      <a:srgbClr val="132A3A"/>
                    </a:solidFill>
                    <a:latin typeface="Helvetica Neue"/>
                    <a:ea typeface="Helvetica Neue"/>
                    <a:cs typeface="Helvetica Neue"/>
                  </a:rPr>
                  <a:t>Parameter multiplier</a:t>
                </a:r>
              </a:p>
            </c:rich>
          </c:tx>
          <c:overlay val="0"/>
          <c:txPr>
            <a:bodyPr xmlns:a="http://schemas.openxmlformats.org/drawingml/2006/main" anchorCtr="1"/>
            <a:lstStyle xmlns:a="http://schemas.openxmlformats.org/drawingml/2006/main"/>
            <a:p xmlns:a="http://schemas.openxmlformats.org/drawingml/2006/main">
              <a:pPr>
                <a:defRPr sz="1650">
                  <a:solidFill>
                    <a:srgbClr val="132A3A"/>
                  </a:solidFill>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49616E"/>
                </a:solidFill>
                <a:latin typeface="Helvetica Neue"/>
                <a:ea typeface="Helvetica Neue"/>
                <a:cs typeface="Helvetica Neue"/>
              </a:defRPr>
            </a:pPr>
          </a:p>
        </c:txPr>
        <c:crossAx val="48672768"/>
      </c:catAx>
      <c:valAx>
        <c:axId val="48672768"/>
        <c:scaling>
          <c:orientation val="minMax"/>
          <c:max val="4.6"/>
          <c:min val="0"/>
        </c:scaling>
        <c:delete val="0"/>
        <c:axPos val="l"/>
        <c:majorGridlines>
          <c:spPr>
            <a:ln xmlns:a="http://schemas.openxmlformats.org/drawingml/2006/main" w="9525">
              <a:solidFill>
                <a:srgbClr val="D7E1E6"/>
              </a:solidFill>
            </a:ln>
          </c:spPr>
        </c:majorGridlines>
        <c:title>
          <c:tx>
            <c:rich>
              <a:bodyPr xmlns:a="http://schemas.openxmlformats.org/drawingml/2006/main"/>
              <a:lstStyle xmlns:a="http://schemas.openxmlformats.org/drawingml/2006/main"/>
              <a:p xmlns:a="http://schemas.openxmlformats.org/drawingml/2006/main">
                <a:r>
                  <a:rPr sz="1650">
                    <a:solidFill>
                      <a:srgbClr val="132A3A"/>
                    </a:solidFill>
                    <a:latin typeface="Helvetica Neue"/>
                    <a:ea typeface="Helvetica Neue"/>
                    <a:cs typeface="Helvetica Neue"/>
                  </a:rPr>
                  <a:t>Time / baseline time</a:t>
                </a:r>
              </a:p>
            </c:rich>
          </c:tx>
          <c:overlay val="0"/>
          <c:txPr>
            <a:bodyPr xmlns:a="http://schemas.openxmlformats.org/drawingml/2006/main" anchorCtr="1"/>
            <a:lstStyle xmlns:a="http://schemas.openxmlformats.org/drawingml/2006/main"/>
            <a:p xmlns:a="http://schemas.openxmlformats.org/drawingml/2006/main">
              <a:pPr>
                <a:defRPr sz="1650">
                  <a:solidFill>
                    <a:srgbClr val="132A3A"/>
                  </a:solidFill>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49616E"/>
                </a:solidFill>
                <a:latin typeface="Helvetica Neue"/>
                <a:ea typeface="Helvetica Neue"/>
                <a:cs typeface="Helvetica Neue"/>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32A3A"/>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4327A44-FE02-44AF-8993-7714E5594FE3}"/>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32A3A"/>
                </a:solidFill>
                <a:latin typeface="Helvetica Neue"/>
                <a:ea typeface="Helvetica Neue"/>
                <a:cs typeface="Helvetica Neue"/>
              </a:defRPr>
            </a:defPPr>
            <a:lvl1pPr>
              <a:defRPr sz="3300" b="1">
                <a:solidFill>
                  <a:srgbClr val="132A3A"/>
                </a:solidFill>
                <a:latin typeface="Helvetica Neue"/>
                <a:ea typeface="Helvetica Neue"/>
                <a:cs typeface="Helvetica Neue"/>
              </a:defRPr>
            </a:lvl1pPr>
            <a:lvl2pPr>
              <a:defRPr sz="3300" b="1">
                <a:solidFill>
                  <a:srgbClr val="132A3A"/>
                </a:solidFill>
                <a:latin typeface="Helvetica Neue"/>
                <a:ea typeface="Helvetica Neue"/>
                <a:cs typeface="Helvetica Neue"/>
              </a:defRPr>
            </a:lvl2pPr>
            <a:lvl3pPr>
              <a:defRPr sz="3300" b="1">
                <a:solidFill>
                  <a:srgbClr val="132A3A"/>
                </a:solidFill>
                <a:latin typeface="Helvetica Neue"/>
                <a:ea typeface="Helvetica Neue"/>
                <a:cs typeface="Helvetica Neue"/>
              </a:defRPr>
            </a:lvl3pPr>
            <a:lvl4pPr>
              <a:defRPr sz="3300" b="1">
                <a:solidFill>
                  <a:srgbClr val="132A3A"/>
                </a:solidFill>
                <a:latin typeface="Helvetica Neue"/>
                <a:ea typeface="Helvetica Neue"/>
                <a:cs typeface="Helvetica Neue"/>
              </a:defRPr>
            </a:lvl4pPr>
            <a:lvl5pPr>
              <a:defRPr sz="3300" b="1">
                <a:solidFill>
                  <a:srgbClr val="132A3A"/>
                </a:solidFill>
                <a:latin typeface="Helvetica Neue"/>
                <a:ea typeface="Helvetica Neue"/>
                <a:cs typeface="Helvetica Neue"/>
              </a:defRPr>
            </a:lvl5pPr>
            <a:lvl6pPr>
              <a:defRPr sz="3300" b="1">
                <a:solidFill>
                  <a:srgbClr val="132A3A"/>
                </a:solidFill>
                <a:latin typeface="Helvetica Neue"/>
                <a:ea typeface="Helvetica Neue"/>
                <a:cs typeface="Helvetica Neue"/>
              </a:defRPr>
            </a:lvl6pPr>
            <a:lvl7pPr>
              <a:defRPr sz="3300" b="1">
                <a:solidFill>
                  <a:srgbClr val="132A3A"/>
                </a:solidFill>
                <a:latin typeface="Helvetica Neue"/>
                <a:ea typeface="Helvetica Neue"/>
                <a:cs typeface="Helvetica Neue"/>
              </a:defRPr>
            </a:lvl7pPr>
            <a:lvl8pPr>
              <a:defRPr sz="3300" b="1">
                <a:solidFill>
                  <a:srgbClr val="132A3A"/>
                </a:solidFill>
                <a:latin typeface="Helvetica Neue"/>
                <a:ea typeface="Helvetica Neue"/>
                <a:cs typeface="Helvetica Neue"/>
              </a:defRPr>
            </a:lvl8pPr>
            <a:lvl9pPr>
              <a:defRPr sz="3300" b="1">
                <a:solidFill>
                  <a:srgbClr val="132A3A"/>
                </a:solidFill>
                <a:latin typeface="Helvetica Neue"/>
                <a:ea typeface="Helvetica Neue"/>
                <a:cs typeface="Helvetica Neue"/>
              </a:defRPr>
            </a:lvl9pPr>
          </a:lstStyle>
          <a:p xmlns:a="http://schemas.openxmlformats.org/drawingml/2006/main">
            <a:pPr>
              <a:defRPr sz="3300" b="1">
                <a:solidFill>
                  <a:srgbClr val="132A3A"/>
                </a:solidFill>
                <a:latin typeface="Helvetica Neue"/>
                <a:ea typeface="Helvetica Neue"/>
                <a:cs typeface="Helvetica Neue"/>
              </a:defRPr>
            </a:pPr>
            <a:r>
              <a:rPr sz="3300" b="1">
                <a:solidFill>
                  <a:srgbClr val="132A3A"/>
                </a:solidFill>
                <a:latin typeface="Helvetica Neue"/>
                <a:ea typeface="Helvetica Neue"/>
                <a:cs typeface="Helvetica Neue"/>
              </a:rPr>
              <a:t>Cooling time through a flat plate</a:t>
            </a:r>
          </a:p>
        </p:txBody>
      </p:sp>
      <p:sp>
        <p:nvSpPr>
          <p:cNvPr id="2" name="">
            <a:extLst xmlns:a="http://schemas.openxmlformats.org/drawingml/2006/main">
              <a:ext uri="{FF2B5EF4-FFF2-40B4-BE49-F238E27FC236}">
                <a16:creationId xmlns:a16="http://schemas.microsoft.com/office/drawing/2014/main" id="{5711AE1B-2A38-4CD5-AB4F-A314B64B873B}"/>
              </a:ext>
            </a:extLst>
          </p:cNvPr>
          <p:cNvSpPr>
            <a:spLocks xmlns:a="http://schemas.openxmlformats.org/drawingml/2006/main" noGrp="1"/>
          </p:cNvSpPr>
          <p:nvPr/>
        </p:nvSpPr>
        <p:spPr>
          <a:xfrm xmlns:a="http://schemas.openxmlformats.org/drawingml/2006/main">
            <a:off x="609600" y="1409700"/>
            <a:ext cx="10858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0">
                <a:solidFill>
                  <a:srgbClr val="132A3A"/>
                </a:solidFill>
                <a:latin typeface="Helvetica Neue"/>
                <a:ea typeface="Helvetica Neue"/>
                <a:cs typeface="Helvetica Neue"/>
              </a:defRPr>
            </a:defPPr>
            <a:lvl1pPr>
              <a:defRPr sz="2550" b="0">
                <a:solidFill>
                  <a:srgbClr val="132A3A"/>
                </a:solidFill>
                <a:latin typeface="Helvetica Neue"/>
                <a:ea typeface="Helvetica Neue"/>
                <a:cs typeface="Helvetica Neue"/>
              </a:defRPr>
            </a:lvl1pPr>
            <a:lvl2pPr>
              <a:defRPr sz="2550" b="0">
                <a:solidFill>
                  <a:srgbClr val="132A3A"/>
                </a:solidFill>
                <a:latin typeface="Helvetica Neue"/>
                <a:ea typeface="Helvetica Neue"/>
                <a:cs typeface="Helvetica Neue"/>
              </a:defRPr>
            </a:lvl2pPr>
            <a:lvl3pPr>
              <a:defRPr sz="2550" b="0">
                <a:solidFill>
                  <a:srgbClr val="132A3A"/>
                </a:solidFill>
                <a:latin typeface="Helvetica Neue"/>
                <a:ea typeface="Helvetica Neue"/>
                <a:cs typeface="Helvetica Neue"/>
              </a:defRPr>
            </a:lvl3pPr>
            <a:lvl4pPr>
              <a:defRPr sz="2550" b="0">
                <a:solidFill>
                  <a:srgbClr val="132A3A"/>
                </a:solidFill>
                <a:latin typeface="Helvetica Neue"/>
                <a:ea typeface="Helvetica Neue"/>
                <a:cs typeface="Helvetica Neue"/>
              </a:defRPr>
            </a:lvl4pPr>
            <a:lvl5pPr>
              <a:defRPr sz="2550" b="0">
                <a:solidFill>
                  <a:srgbClr val="132A3A"/>
                </a:solidFill>
                <a:latin typeface="Helvetica Neue"/>
                <a:ea typeface="Helvetica Neue"/>
                <a:cs typeface="Helvetica Neue"/>
              </a:defRPr>
            </a:lvl5pPr>
            <a:lvl6pPr>
              <a:defRPr sz="2550" b="0">
                <a:solidFill>
                  <a:srgbClr val="132A3A"/>
                </a:solidFill>
                <a:latin typeface="Helvetica Neue"/>
                <a:ea typeface="Helvetica Neue"/>
                <a:cs typeface="Helvetica Neue"/>
              </a:defRPr>
            </a:lvl6pPr>
            <a:lvl7pPr>
              <a:defRPr sz="2550" b="0">
                <a:solidFill>
                  <a:srgbClr val="132A3A"/>
                </a:solidFill>
                <a:latin typeface="Helvetica Neue"/>
                <a:ea typeface="Helvetica Neue"/>
                <a:cs typeface="Helvetica Neue"/>
              </a:defRPr>
            </a:lvl7pPr>
            <a:lvl8pPr>
              <a:defRPr sz="2550" b="0">
                <a:solidFill>
                  <a:srgbClr val="132A3A"/>
                </a:solidFill>
                <a:latin typeface="Helvetica Neue"/>
                <a:ea typeface="Helvetica Neue"/>
                <a:cs typeface="Helvetica Neue"/>
              </a:defRPr>
            </a:lvl8pPr>
            <a:lvl9pPr>
              <a:defRPr sz="2550" b="0">
                <a:solidFill>
                  <a:srgbClr val="132A3A"/>
                </a:solidFill>
                <a:latin typeface="Helvetica Neue"/>
                <a:ea typeface="Helvetica Neue"/>
                <a:cs typeface="Helvetica Neue"/>
              </a:defRPr>
            </a:lvl9pPr>
          </a:lstStyle>
          <a:p xmlns:a="http://schemas.openxmlformats.org/drawingml/2006/main">
            <a:pPr>
              <a:defRPr sz="2550" b="0">
                <a:solidFill>
                  <a:srgbClr val="132A3A"/>
                </a:solidFill>
                <a:latin typeface="Helvetica Neue"/>
                <a:ea typeface="Helvetica Neue"/>
                <a:cs typeface="Helvetica Neue"/>
              </a:defRPr>
            </a:pPr>
            <a:r>
              <a:rPr sz="2550" b="0">
                <a:solidFill>
                  <a:srgbClr val="132A3A"/>
                </a:solidFill>
                <a:latin typeface="Helvetica Neue"/>
                <a:ea typeface="Helvetica Neue"/>
                <a:cs typeface="Helvetica Neue"/>
              </a:rPr>
              <a:t>Which method predicts the hottest-point threshold accurately at the lowest measured cost?</a:t>
            </a:r>
          </a:p>
        </p:txBody>
      </p:sp>
      <p:graphicFrame>
        <p:nvGraphicFramePr>
          <p:cNvPr id="3" name="">
            <a:extLst xmlns:a="http://schemas.openxmlformats.org/drawingml/2006/main">
              <a:ext uri="{FF2B5EF4-FFF2-40B4-BE49-F238E27FC236}">
                <a16:creationId xmlns:a16="http://schemas.microsoft.com/office/drawing/2014/main" id="{01DF2A15-C066-4E0D-8845-F2BAF9484997}"/>
              </a:ext>
            </a:extLst>
          </p:cNvPr>
          <p:cNvGraphicFramePr/>
          <p:nvPr/>
        </p:nvGraphicFramePr>
        <p:xfrm>
          <a:off xmlns:a="http://schemas.openxmlformats.org/drawingml/2006/main" x="609600" y="2705100"/>
          <a:ext xmlns:a="http://schemas.openxmlformats.org/drawingml/2006/main" cx="6572250" cy="2476500"/>
        </p:xfrm>
        <a:graphic xmlns:a="http://schemas.openxmlformats.org/drawingml/2006/main">
          <a:graphicData uri="http://schemas.openxmlformats.org/drawingml/2006/table">
            <a:tbl>
              <a:tblPr firstRow="1" bandRow="0"/>
              <a:tblGrid>
                <a:gridCol w="2667000"/>
                <a:gridCol w="2428875"/>
                <a:gridCol w="1476375"/>
              </a:tblGrid>
              <a:tr h="619125">
                <a:tc>
                  <a:txBody>
                    <a:bodyPr/>
                    <a:lstStyle/>
                    <a:p>
                      <a:r>
                        <a:rPr sz="1725" b="1">
                          <a:solidFill>
                            <a:srgbClr val="FFFFFF"/>
                          </a:solidFill>
                          <a:latin typeface="Helvetica Neue"/>
                          <a:ea typeface="Helvetica Neue"/>
                          <a:cs typeface="Helvetica Neue"/>
                        </a:rPr>
                        <a:t>Synthetic input</a:t>
                      </a:r>
                    </a:p>
                  </a:txBody>
                  <a:tcPr marL="91440" marR="91440" marT="45720" marB="45720">
                    <a:lnL w="9525">
                      <a:solidFill>
                        <a:srgbClr val="D7E1E6"/>
                      </a:solidFill>
                    </a:lnL>
                    <a:lnR w="9525">
                      <a:solidFill>
                        <a:srgbClr val="D7E1E6"/>
                      </a:solidFill>
                    </a:lnR>
                    <a:lnT w="9525">
                      <a:solidFill>
                        <a:srgbClr val="D7E1E6"/>
                      </a:solidFill>
                    </a:lnT>
                    <a:lnB w="9525">
                      <a:solidFill>
                        <a:srgbClr val="D7E1E6"/>
                      </a:solidFill>
                    </a:lnB>
                    <a:solidFill>
                      <a:srgbClr val="132A3A"/>
                    </a:solidFill>
                  </a:tcPr>
                </a:tc>
                <a:tc>
                  <a:txBody>
                    <a:bodyPr/>
                    <a:lstStyle/>
                    <a:p>
                      <a:r>
                        <a:rPr sz="1725" b="1">
                          <a:solidFill>
                            <a:srgbClr val="FFFFFF"/>
                          </a:solidFill>
                          <a:latin typeface="Helvetica Neue"/>
                          <a:ea typeface="Helvetica Neue"/>
                          <a:cs typeface="Helvetica Neue"/>
                        </a:rPr>
                        <a:t>Baseline</a:t>
                      </a:r>
                    </a:p>
                  </a:txBody>
                  <a:tcPr marL="91440" marR="91440" marT="45720" marB="45720">
                    <a:lnR w="9525">
                      <a:solidFill>
                        <a:srgbClr val="D7E1E6"/>
                      </a:solidFill>
                    </a:lnR>
                    <a:lnT w="9525">
                      <a:solidFill>
                        <a:srgbClr val="D7E1E6"/>
                      </a:solidFill>
                    </a:lnT>
                    <a:lnB w="9525">
                      <a:solidFill>
                        <a:srgbClr val="D7E1E6"/>
                      </a:solidFill>
                    </a:lnB>
                    <a:solidFill>
                      <a:srgbClr val="132A3A"/>
                    </a:solidFill>
                  </a:tcPr>
                </a:tc>
                <a:tc>
                  <a:txBody>
                    <a:bodyPr/>
                    <a:lstStyle/>
                    <a:p>
                      <a:r>
                        <a:rPr sz="1725" b="1">
                          <a:solidFill>
                            <a:srgbClr val="FFFFFF"/>
                          </a:solidFill>
                          <a:latin typeface="Helvetica Neue"/>
                          <a:ea typeface="Helvetica Neue"/>
                          <a:cs typeface="Helvetica Neue"/>
                        </a:rPr>
                        <a:t>Units</a:t>
                      </a:r>
                    </a:p>
                  </a:txBody>
                  <a:tcPr marL="91440" marR="91440" marT="45720" marB="45720">
                    <a:lnR w="9525">
                      <a:solidFill>
                        <a:srgbClr val="D7E1E6"/>
                      </a:solidFill>
                    </a:lnR>
                    <a:lnT w="9525">
                      <a:solidFill>
                        <a:srgbClr val="D7E1E6"/>
                      </a:solidFill>
                    </a:lnT>
                    <a:lnB w="9525">
                      <a:solidFill>
                        <a:srgbClr val="D7E1E6"/>
                      </a:solidFill>
                    </a:lnB>
                    <a:solidFill>
                      <a:srgbClr val="132A3A"/>
                    </a:solidFill>
                  </a:tcPr>
                </a:tc>
              </a:tr>
              <a:tr h="619125">
                <a:tc>
                  <a:txBody>
                    <a:bodyPr/>
                    <a:lstStyle/>
                    <a:p>
                      <a:r>
                        <a:rPr sz="1725" b="0">
                          <a:solidFill>
                            <a:srgbClr val="132A3A"/>
                          </a:solidFill>
                          <a:latin typeface="Helvetica Neue"/>
                          <a:ea typeface="Helvetica Neue"/>
                          <a:cs typeface="Helvetica Neue"/>
                        </a:rPr>
                        <a:t>Full thickness L</a:t>
                      </a:r>
                    </a:p>
                  </a:txBody>
                  <a:tcPr marL="91440" marR="91440" marT="45720" marB="45720">
                    <a:lnL w="9525">
                      <a:solidFill>
                        <a:srgbClr val="D7E1E6"/>
                      </a:solidFill>
                    </a:lnL>
                    <a:lnR w="9525">
                      <a:solidFill>
                        <a:srgbClr val="D7E1E6"/>
                      </a:solidFill>
                    </a:lnR>
                    <a:lnB w="9525">
                      <a:solidFill>
                        <a:srgbClr val="D7E1E6"/>
                      </a:solidFill>
                    </a:lnB>
                    <a:solidFill>
                      <a:srgbClr val="FFFFFF"/>
                    </a:solidFill>
                  </a:tcPr>
                </a:tc>
                <a:tc>
                  <a:txBody>
                    <a:bodyPr/>
                    <a:lstStyle/>
                    <a:p>
                      <a:r>
                        <a:rPr sz="1725" b="0">
                          <a:solidFill>
                            <a:srgbClr val="132A3A"/>
                          </a:solidFill>
                          <a:latin typeface="Helvetica Neue"/>
                          <a:ea typeface="Helvetica Neue"/>
                          <a:cs typeface="Helvetica Neue"/>
                        </a:rPr>
                        <a:t>0.010</a:t>
                      </a:r>
                    </a:p>
                  </a:txBody>
                  <a:tcPr marL="91440" marR="91440" marT="45720" marB="45720">
                    <a:lnR w="9525">
                      <a:solidFill>
                        <a:srgbClr val="D7E1E6"/>
                      </a:solidFill>
                    </a:lnR>
                    <a:lnB w="9525">
                      <a:solidFill>
                        <a:srgbClr val="D7E1E6"/>
                      </a:solidFill>
                    </a:lnB>
                    <a:solidFill>
                      <a:srgbClr val="FFFFFF"/>
                    </a:solidFill>
                  </a:tcPr>
                </a:tc>
                <a:tc>
                  <a:txBody>
                    <a:bodyPr/>
                    <a:lstStyle/>
                    <a:p>
                      <a:r>
                        <a:rPr sz="1725" b="0">
                          <a:solidFill>
                            <a:srgbClr val="132A3A"/>
                          </a:solidFill>
                          <a:latin typeface="Helvetica Neue"/>
                          <a:ea typeface="Helvetica Neue"/>
                          <a:cs typeface="Helvetica Neue"/>
                        </a:rPr>
                        <a:t>m</a:t>
                      </a:r>
                    </a:p>
                  </a:txBody>
                  <a:tcPr marL="91440" marR="91440" marT="45720" marB="45720">
                    <a:lnR w="9525">
                      <a:solidFill>
                        <a:srgbClr val="D7E1E6"/>
                      </a:solidFill>
                    </a:lnR>
                    <a:lnB w="9525">
                      <a:solidFill>
                        <a:srgbClr val="D7E1E6"/>
                      </a:solidFill>
                    </a:lnB>
                    <a:solidFill>
                      <a:srgbClr val="FFFFFF"/>
                    </a:solidFill>
                  </a:tcPr>
                </a:tc>
              </a:tr>
              <a:tr h="619125">
                <a:tc>
                  <a:txBody>
                    <a:bodyPr/>
                    <a:lstStyle/>
                    <a:p>
                      <a:r>
                        <a:rPr sz="1725" b="0">
                          <a:solidFill>
                            <a:srgbClr val="132A3A"/>
                          </a:solidFill>
                          <a:latin typeface="Helvetica Neue"/>
                          <a:ea typeface="Helvetica Neue"/>
                          <a:cs typeface="Helvetica Neue"/>
                        </a:rPr>
                        <a:t>Thermal diffusivity</a:t>
                      </a:r>
                    </a:p>
                  </a:txBody>
                  <a:tcPr marL="91440" marR="91440" marT="45720" marB="45720">
                    <a:lnL w="9525">
                      <a:solidFill>
                        <a:srgbClr val="D7E1E6"/>
                      </a:solidFill>
                    </a:lnL>
                    <a:lnR w="9525">
                      <a:solidFill>
                        <a:srgbClr val="D7E1E6"/>
                      </a:solidFill>
                    </a:lnR>
                    <a:lnB w="9525">
                      <a:solidFill>
                        <a:srgbClr val="D7E1E6"/>
                      </a:solidFill>
                    </a:lnB>
                    <a:solidFill>
                      <a:srgbClr val="FFFFFF"/>
                    </a:solidFill>
                  </a:tcPr>
                </a:tc>
                <a:tc>
                  <a:txBody>
                    <a:bodyPr/>
                    <a:lstStyle/>
                    <a:p>
                      <a:r>
                        <a:rPr sz="1725" b="0">
                          <a:solidFill>
                            <a:srgbClr val="132A3A"/>
                          </a:solidFill>
                          <a:latin typeface="Helvetica Neue"/>
                          <a:ea typeface="Helvetica Neue"/>
                          <a:cs typeface="Helvetica Neue"/>
                        </a:rPr>
                        <a:t>1.0 × 10⁻⁵</a:t>
                      </a:r>
                    </a:p>
                  </a:txBody>
                  <a:tcPr marL="91440" marR="91440" marT="45720" marB="45720">
                    <a:lnR w="9525">
                      <a:solidFill>
                        <a:srgbClr val="D7E1E6"/>
                      </a:solidFill>
                    </a:lnR>
                    <a:lnB w="9525">
                      <a:solidFill>
                        <a:srgbClr val="D7E1E6"/>
                      </a:solidFill>
                    </a:lnB>
                    <a:solidFill>
                      <a:srgbClr val="FFFFFF"/>
                    </a:solidFill>
                  </a:tcPr>
                </a:tc>
                <a:tc>
                  <a:txBody>
                    <a:bodyPr/>
                    <a:lstStyle/>
                    <a:p>
                      <a:r>
                        <a:rPr sz="1725" b="0">
                          <a:solidFill>
                            <a:srgbClr val="132A3A"/>
                          </a:solidFill>
                          <a:latin typeface="Helvetica Neue"/>
                          <a:ea typeface="Helvetica Neue"/>
                          <a:cs typeface="Helvetica Neue"/>
                        </a:rPr>
                        <a:t>m²/s</a:t>
                      </a:r>
                    </a:p>
                  </a:txBody>
                  <a:tcPr marL="91440" marR="91440" marT="45720" marB="45720">
                    <a:lnR w="9525">
                      <a:solidFill>
                        <a:srgbClr val="D7E1E6"/>
                      </a:solidFill>
                    </a:lnR>
                    <a:lnB w="9525">
                      <a:solidFill>
                        <a:srgbClr val="D7E1E6"/>
                      </a:solidFill>
                    </a:lnB>
                    <a:solidFill>
                      <a:srgbClr val="FFFFFF"/>
                    </a:solidFill>
                  </a:tcPr>
                </a:tc>
              </a:tr>
              <a:tr h="619125">
                <a:tc>
                  <a:txBody>
                    <a:bodyPr/>
                    <a:lstStyle/>
                    <a:p>
                      <a:r>
                        <a:rPr sz="1725" b="0">
                          <a:solidFill>
                            <a:srgbClr val="132A3A"/>
                          </a:solidFill>
                          <a:latin typeface="Helvetica Neue"/>
                          <a:ea typeface="Helvetica Neue"/>
                          <a:cs typeface="Helvetica Neue"/>
                        </a:rPr>
                        <a:t>Initial / face / target</a:t>
                      </a:r>
                    </a:p>
                  </a:txBody>
                  <a:tcPr marL="91440" marR="91440" marT="45720" marB="45720">
                    <a:lnL w="9525">
                      <a:solidFill>
                        <a:srgbClr val="D7E1E6"/>
                      </a:solidFill>
                    </a:lnL>
                    <a:lnR w="9525">
                      <a:solidFill>
                        <a:srgbClr val="D7E1E6"/>
                      </a:solidFill>
                    </a:lnR>
                    <a:lnB w="9525">
                      <a:solidFill>
                        <a:srgbClr val="D7E1E6"/>
                      </a:solidFill>
                    </a:lnB>
                    <a:solidFill>
                      <a:srgbClr val="FFFFFF"/>
                    </a:solidFill>
                  </a:tcPr>
                </a:tc>
                <a:tc>
                  <a:txBody>
                    <a:bodyPr/>
                    <a:lstStyle/>
                    <a:p>
                      <a:r>
                        <a:rPr sz="1725" b="0">
                          <a:solidFill>
                            <a:srgbClr val="132A3A"/>
                          </a:solidFill>
                          <a:latin typeface="Helvetica Neue"/>
                          <a:ea typeface="Helvetica Neue"/>
                          <a:cs typeface="Helvetica Neue"/>
                        </a:rPr>
                        <a:t>100 / 20 / 40</a:t>
                      </a:r>
                    </a:p>
                  </a:txBody>
                  <a:tcPr marL="91440" marR="91440" marT="45720" marB="45720">
                    <a:lnR w="9525">
                      <a:solidFill>
                        <a:srgbClr val="D7E1E6"/>
                      </a:solidFill>
                    </a:lnR>
                    <a:lnB w="9525">
                      <a:solidFill>
                        <a:srgbClr val="D7E1E6"/>
                      </a:solidFill>
                    </a:lnB>
                    <a:solidFill>
                      <a:srgbClr val="FFFFFF"/>
                    </a:solidFill>
                  </a:tcPr>
                </a:tc>
                <a:tc>
                  <a:txBody>
                    <a:bodyPr/>
                    <a:lstStyle/>
                    <a:p>
                      <a:r>
                        <a:rPr sz="1725" b="0">
                          <a:solidFill>
                            <a:srgbClr val="132A3A"/>
                          </a:solidFill>
                          <a:latin typeface="Helvetica Neue"/>
                          <a:ea typeface="Helvetica Neue"/>
                          <a:cs typeface="Helvetica Neue"/>
                        </a:rPr>
                        <a:t>°C</a:t>
                      </a:r>
                    </a:p>
                  </a:txBody>
                  <a:tcPr marL="91440" marR="91440" marT="45720" marB="45720">
                    <a:lnR w="9525">
                      <a:solidFill>
                        <a:srgbClr val="D7E1E6"/>
                      </a:solidFill>
                    </a:lnR>
                    <a:lnB w="9525">
                      <a:solidFill>
                        <a:srgbClr val="D7E1E6"/>
                      </a:solidFill>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4B8DB25-C949-4EAF-9153-F0E946912B11}"/>
              </a:ext>
            </a:extLst>
          </p:cNvPr>
          <p:cNvSpPr>
            <a:spLocks xmlns:a="http://schemas.openxmlformats.org/drawingml/2006/main" noGrp="1"/>
          </p:cNvSpPr>
          <p:nvPr/>
        </p:nvSpPr>
        <p:spPr>
          <a:xfrm xmlns:a="http://schemas.openxmlformats.org/drawingml/2006/main">
            <a:off x="7858125" y="280035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007F87"/>
                </a:solidFill>
                <a:latin typeface="Helvetica Neue"/>
                <a:ea typeface="Helvetica Neue"/>
                <a:cs typeface="Helvetica Neue"/>
              </a:defRPr>
            </a:defPPr>
            <a:lvl1pPr>
              <a:defRPr sz="2175" b="1">
                <a:solidFill>
                  <a:srgbClr val="007F87"/>
                </a:solidFill>
                <a:latin typeface="Helvetica Neue"/>
                <a:ea typeface="Helvetica Neue"/>
                <a:cs typeface="Helvetica Neue"/>
              </a:defRPr>
            </a:lvl1pPr>
            <a:lvl2pPr>
              <a:defRPr sz="2175" b="1">
                <a:solidFill>
                  <a:srgbClr val="007F87"/>
                </a:solidFill>
                <a:latin typeface="Helvetica Neue"/>
                <a:ea typeface="Helvetica Neue"/>
                <a:cs typeface="Helvetica Neue"/>
              </a:defRPr>
            </a:lvl2pPr>
            <a:lvl3pPr>
              <a:defRPr sz="2175" b="1">
                <a:solidFill>
                  <a:srgbClr val="007F87"/>
                </a:solidFill>
                <a:latin typeface="Helvetica Neue"/>
                <a:ea typeface="Helvetica Neue"/>
                <a:cs typeface="Helvetica Neue"/>
              </a:defRPr>
            </a:lvl3pPr>
            <a:lvl4pPr>
              <a:defRPr sz="2175" b="1">
                <a:solidFill>
                  <a:srgbClr val="007F87"/>
                </a:solidFill>
                <a:latin typeface="Helvetica Neue"/>
                <a:ea typeface="Helvetica Neue"/>
                <a:cs typeface="Helvetica Neue"/>
              </a:defRPr>
            </a:lvl4pPr>
            <a:lvl5pPr>
              <a:defRPr sz="2175" b="1">
                <a:solidFill>
                  <a:srgbClr val="007F87"/>
                </a:solidFill>
                <a:latin typeface="Helvetica Neue"/>
                <a:ea typeface="Helvetica Neue"/>
                <a:cs typeface="Helvetica Neue"/>
              </a:defRPr>
            </a:lvl5pPr>
            <a:lvl6pPr>
              <a:defRPr sz="2175" b="1">
                <a:solidFill>
                  <a:srgbClr val="007F87"/>
                </a:solidFill>
                <a:latin typeface="Helvetica Neue"/>
                <a:ea typeface="Helvetica Neue"/>
                <a:cs typeface="Helvetica Neue"/>
              </a:defRPr>
            </a:lvl6pPr>
            <a:lvl7pPr>
              <a:defRPr sz="2175" b="1">
                <a:solidFill>
                  <a:srgbClr val="007F87"/>
                </a:solidFill>
                <a:latin typeface="Helvetica Neue"/>
                <a:ea typeface="Helvetica Neue"/>
                <a:cs typeface="Helvetica Neue"/>
              </a:defRPr>
            </a:lvl7pPr>
            <a:lvl8pPr>
              <a:defRPr sz="2175" b="1">
                <a:solidFill>
                  <a:srgbClr val="007F87"/>
                </a:solidFill>
                <a:latin typeface="Helvetica Neue"/>
                <a:ea typeface="Helvetica Neue"/>
                <a:cs typeface="Helvetica Neue"/>
              </a:defRPr>
            </a:lvl8pPr>
            <a:lvl9pPr>
              <a:defRPr sz="2175" b="1">
                <a:solidFill>
                  <a:srgbClr val="007F87"/>
                </a:solidFill>
                <a:latin typeface="Helvetica Neue"/>
                <a:ea typeface="Helvetica Neue"/>
                <a:cs typeface="Helvetica Neue"/>
              </a:defRPr>
            </a:lvl9pPr>
          </a:lstStyle>
          <a:p xmlns:a="http://schemas.openxmlformats.org/drawingml/2006/main">
            <a:pPr>
              <a:defRPr sz="2175" b="1">
                <a:solidFill>
                  <a:srgbClr val="007F87"/>
                </a:solidFill>
                <a:latin typeface="Helvetica Neue"/>
                <a:ea typeface="Helvetica Neue"/>
                <a:cs typeface="Helvetica Neue"/>
              </a:defRPr>
            </a:pPr>
            <a:r>
              <a:rPr sz="2175" b="1">
                <a:solidFill>
                  <a:srgbClr val="007F87"/>
                </a:solidFill>
                <a:latin typeface="Helvetica Neue"/>
                <a:ea typeface="Helvetica Neue"/>
                <a:cs typeface="Helvetica Neue"/>
              </a:rPr>
              <a:t>Outputs</a:t>
            </a:r>
          </a:p>
        </p:txBody>
      </p:sp>
      <p:sp>
        <p:nvSpPr>
          <p:cNvPr id="5" name="">
            <a:extLst xmlns:a="http://schemas.openxmlformats.org/drawingml/2006/main">
              <a:ext uri="{FF2B5EF4-FFF2-40B4-BE49-F238E27FC236}">
                <a16:creationId xmlns:a16="http://schemas.microsoft.com/office/drawing/2014/main" id="{070C0A72-7C2A-4B50-B50E-C8A98163D9DD}"/>
              </a:ext>
            </a:extLst>
          </p:cNvPr>
          <p:cNvSpPr>
            <a:spLocks xmlns:a="http://schemas.openxmlformats.org/drawingml/2006/main" noGrp="1"/>
          </p:cNvSpPr>
          <p:nvPr/>
        </p:nvSpPr>
        <p:spPr>
          <a:xfrm xmlns:a="http://schemas.openxmlformats.org/drawingml/2006/main">
            <a:off x="7858125" y="3362325"/>
            <a:ext cx="3429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32A3A"/>
                </a:solidFill>
                <a:latin typeface="Helvetica Neue"/>
                <a:ea typeface="Helvetica Neue"/>
                <a:cs typeface="Helvetica Neue"/>
              </a:defRPr>
            </a:defPPr>
            <a:lvl1pPr>
              <a:defRPr sz="2025" b="0">
                <a:solidFill>
                  <a:srgbClr val="132A3A"/>
                </a:solidFill>
                <a:latin typeface="Helvetica Neue"/>
                <a:ea typeface="Helvetica Neue"/>
                <a:cs typeface="Helvetica Neue"/>
              </a:defRPr>
            </a:lvl1pPr>
            <a:lvl2pPr>
              <a:defRPr sz="2025" b="0">
                <a:solidFill>
                  <a:srgbClr val="132A3A"/>
                </a:solidFill>
                <a:latin typeface="Helvetica Neue"/>
                <a:ea typeface="Helvetica Neue"/>
                <a:cs typeface="Helvetica Neue"/>
              </a:defRPr>
            </a:lvl2pPr>
            <a:lvl3pPr>
              <a:defRPr sz="2025" b="0">
                <a:solidFill>
                  <a:srgbClr val="132A3A"/>
                </a:solidFill>
                <a:latin typeface="Helvetica Neue"/>
                <a:ea typeface="Helvetica Neue"/>
                <a:cs typeface="Helvetica Neue"/>
              </a:defRPr>
            </a:lvl3pPr>
            <a:lvl4pPr>
              <a:defRPr sz="2025" b="0">
                <a:solidFill>
                  <a:srgbClr val="132A3A"/>
                </a:solidFill>
                <a:latin typeface="Helvetica Neue"/>
                <a:ea typeface="Helvetica Neue"/>
                <a:cs typeface="Helvetica Neue"/>
              </a:defRPr>
            </a:lvl4pPr>
            <a:lvl5pPr>
              <a:defRPr sz="2025" b="0">
                <a:solidFill>
                  <a:srgbClr val="132A3A"/>
                </a:solidFill>
                <a:latin typeface="Helvetica Neue"/>
                <a:ea typeface="Helvetica Neue"/>
                <a:cs typeface="Helvetica Neue"/>
              </a:defRPr>
            </a:lvl5pPr>
            <a:lvl6pPr>
              <a:defRPr sz="2025" b="0">
                <a:solidFill>
                  <a:srgbClr val="132A3A"/>
                </a:solidFill>
                <a:latin typeface="Helvetica Neue"/>
                <a:ea typeface="Helvetica Neue"/>
                <a:cs typeface="Helvetica Neue"/>
              </a:defRPr>
            </a:lvl6pPr>
            <a:lvl7pPr>
              <a:defRPr sz="2025" b="0">
                <a:solidFill>
                  <a:srgbClr val="132A3A"/>
                </a:solidFill>
                <a:latin typeface="Helvetica Neue"/>
                <a:ea typeface="Helvetica Neue"/>
                <a:cs typeface="Helvetica Neue"/>
              </a:defRPr>
            </a:lvl7pPr>
            <a:lvl8pPr>
              <a:defRPr sz="2025" b="0">
                <a:solidFill>
                  <a:srgbClr val="132A3A"/>
                </a:solidFill>
                <a:latin typeface="Helvetica Neue"/>
                <a:ea typeface="Helvetica Neue"/>
                <a:cs typeface="Helvetica Neue"/>
              </a:defRPr>
            </a:lvl8pPr>
            <a:lvl9pPr>
              <a:defRPr sz="2025" b="0">
                <a:solidFill>
                  <a:srgbClr val="132A3A"/>
                </a:solidFill>
                <a:latin typeface="Helvetica Neue"/>
                <a:ea typeface="Helvetica Neue"/>
                <a:cs typeface="Helvetica Neue"/>
              </a:defRPr>
            </a:lvl9pPr>
          </a:lstStyle>
          <a:p xmlns:a="http://schemas.openxmlformats.org/drawingml/2006/main">
            <a:pPr>
              <a:defRPr sz="2025" b="0">
                <a:solidFill>
                  <a:srgbClr val="132A3A"/>
                </a:solidFill>
                <a:latin typeface="Helvetica Neue"/>
                <a:ea typeface="Helvetica Neue"/>
                <a:cs typeface="Helvetica Neue"/>
              </a:defRPr>
            </a:pPr>
            <a:r>
              <a:rPr sz="2025" b="0">
                <a:solidFill>
                  <a:srgbClr val="132A3A"/>
                </a:solidFill>
                <a:latin typeface="Helvetica Neue"/>
                <a:ea typeface="Helvetica Neue"/>
                <a:cs typeface="Helvetica Neue"/>
              </a:rPr>
              <a:t>Temperature profiles</a:t>
            </a:r>
          </a:p>
          <a:p xmlns:a="http://schemas.openxmlformats.org/drawingml/2006/main">
            <a:pPr>
              <a:defRPr sz="2025" b="0">
                <a:solidFill>
                  <a:srgbClr val="132A3A"/>
                </a:solidFill>
                <a:latin typeface="Helvetica Neue"/>
                <a:ea typeface="Helvetica Neue"/>
                <a:cs typeface="Helvetica Neue"/>
              </a:defRPr>
            </a:pPr>
            <a:r>
              <a:rPr sz="2025" b="0">
                <a:solidFill>
                  <a:srgbClr val="132A3A"/>
                </a:solidFill>
                <a:latin typeface="Helvetica Neue"/>
                <a:ea typeface="Helvetica Neue"/>
                <a:cs typeface="Helvetica Neue"/>
              </a:rPr>
              <a:t>Hottest-point cooling curve</a:t>
            </a:r>
          </a:p>
          <a:p xmlns:a="http://schemas.openxmlformats.org/drawingml/2006/main">
            <a:pPr>
              <a:defRPr sz="2025" b="0">
                <a:solidFill>
                  <a:srgbClr val="132A3A"/>
                </a:solidFill>
                <a:latin typeface="Helvetica Neue"/>
                <a:ea typeface="Helvetica Neue"/>
                <a:cs typeface="Helvetica Neue"/>
              </a:defRPr>
            </a:pPr>
            <a:r>
              <a:rPr sz="2025" b="0">
                <a:solidFill>
                  <a:srgbClr val="132A3A"/>
                </a:solidFill>
                <a:latin typeface="Helvetica Neue"/>
                <a:ea typeface="Helvetica Neue"/>
                <a:cs typeface="Helvetica Neue"/>
              </a:rPr>
              <a:t>First threshold-crossing time</a:t>
            </a:r>
          </a:p>
        </p:txBody>
      </p:sp>
      <p:sp>
        <p:nvSpPr>
          <p:cNvPr id="6" name="">
            <a:extLst xmlns:a="http://schemas.openxmlformats.org/drawingml/2006/main">
              <a:ext uri="{FF2B5EF4-FFF2-40B4-BE49-F238E27FC236}">
                <a16:creationId xmlns:a16="http://schemas.microsoft.com/office/drawing/2014/main" id="{DFE4795E-182D-4557-9444-56BDEF34F0E0}"/>
              </a:ext>
            </a:extLst>
          </p:cNvPr>
          <p:cNvSpPr>
            <a:spLocks xmlns:a="http://schemas.openxmlformats.org/drawingml/2006/main" noGrp="1"/>
          </p:cNvSpPr>
          <p:nvPr/>
        </p:nvSpPr>
        <p:spPr>
          <a:xfrm xmlns:a="http://schemas.openxmlformats.org/drawingml/2006/main">
            <a:off x="609600" y="5657850"/>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49616E"/>
                </a:solidFill>
                <a:latin typeface="Helvetica Neue"/>
                <a:ea typeface="Helvetica Neue"/>
                <a:cs typeface="Helvetica Neue"/>
              </a:defRPr>
            </a:defPPr>
            <a:lvl1pPr>
              <a:defRPr sz="1800" b="0">
                <a:solidFill>
                  <a:srgbClr val="49616E"/>
                </a:solidFill>
                <a:latin typeface="Helvetica Neue"/>
                <a:ea typeface="Helvetica Neue"/>
                <a:cs typeface="Helvetica Neue"/>
              </a:defRPr>
            </a:lvl1pPr>
            <a:lvl2pPr>
              <a:defRPr sz="1800" b="0">
                <a:solidFill>
                  <a:srgbClr val="49616E"/>
                </a:solidFill>
                <a:latin typeface="Helvetica Neue"/>
                <a:ea typeface="Helvetica Neue"/>
                <a:cs typeface="Helvetica Neue"/>
              </a:defRPr>
            </a:lvl2pPr>
            <a:lvl3pPr>
              <a:defRPr sz="1800" b="0">
                <a:solidFill>
                  <a:srgbClr val="49616E"/>
                </a:solidFill>
                <a:latin typeface="Helvetica Neue"/>
                <a:ea typeface="Helvetica Neue"/>
                <a:cs typeface="Helvetica Neue"/>
              </a:defRPr>
            </a:lvl3pPr>
            <a:lvl4pPr>
              <a:defRPr sz="1800" b="0">
                <a:solidFill>
                  <a:srgbClr val="49616E"/>
                </a:solidFill>
                <a:latin typeface="Helvetica Neue"/>
                <a:ea typeface="Helvetica Neue"/>
                <a:cs typeface="Helvetica Neue"/>
              </a:defRPr>
            </a:lvl4pPr>
            <a:lvl5pPr>
              <a:defRPr sz="1800" b="0">
                <a:solidFill>
                  <a:srgbClr val="49616E"/>
                </a:solidFill>
                <a:latin typeface="Helvetica Neue"/>
                <a:ea typeface="Helvetica Neue"/>
                <a:cs typeface="Helvetica Neue"/>
              </a:defRPr>
            </a:lvl5pPr>
            <a:lvl6pPr>
              <a:defRPr sz="1800" b="0">
                <a:solidFill>
                  <a:srgbClr val="49616E"/>
                </a:solidFill>
                <a:latin typeface="Helvetica Neue"/>
                <a:ea typeface="Helvetica Neue"/>
                <a:cs typeface="Helvetica Neue"/>
              </a:defRPr>
            </a:lvl6pPr>
            <a:lvl7pPr>
              <a:defRPr sz="1800" b="0">
                <a:solidFill>
                  <a:srgbClr val="49616E"/>
                </a:solidFill>
                <a:latin typeface="Helvetica Neue"/>
                <a:ea typeface="Helvetica Neue"/>
                <a:cs typeface="Helvetica Neue"/>
              </a:defRPr>
            </a:lvl7pPr>
            <a:lvl8pPr>
              <a:defRPr sz="1800" b="0">
                <a:solidFill>
                  <a:srgbClr val="49616E"/>
                </a:solidFill>
                <a:latin typeface="Helvetica Neue"/>
                <a:ea typeface="Helvetica Neue"/>
                <a:cs typeface="Helvetica Neue"/>
              </a:defRPr>
            </a:lvl8pPr>
            <a:lvl9pPr>
              <a:defRPr sz="1800" b="0">
                <a:solidFill>
                  <a:srgbClr val="49616E"/>
                </a:solidFill>
                <a:latin typeface="Helvetica Neue"/>
                <a:ea typeface="Helvetica Neue"/>
                <a:cs typeface="Helvetica Neue"/>
              </a:defRPr>
            </a:lvl9pPr>
          </a:lstStyle>
          <a:p xmlns:a="http://schemas.openxmlformats.org/drawingml/2006/main">
            <a:pPr>
              <a:defRPr sz="1800" b="0">
                <a:solidFill>
                  <a:srgbClr val="49616E"/>
                </a:solidFill>
                <a:latin typeface="Helvetica Neue"/>
                <a:ea typeface="Helvetica Neue"/>
                <a:cs typeface="Helvetica Neue"/>
              </a:defRPr>
            </a:pPr>
            <a:r>
              <a:rPr sz="1800" b="0">
                <a:solidFill>
                  <a:srgbClr val="49616E"/>
                </a:solidFill>
                <a:latin typeface="Helvetica Neue"/>
                <a:ea typeface="Helvetica Neue"/>
                <a:cs typeface="Helvetica Neue"/>
              </a:rPr>
              <a:t>Ideal controlled face temperatures and constant properties. Preliminary numerical study.</a:t>
            </a:r>
          </a:p>
        </p:txBody>
      </p:sp>
    </p:spTree>
    <p:extLst>
      <p:ext uri="{BB962C8B-B14F-4D97-AF65-F5344CB8AC3E}">
        <p14:creationId xmlns:p14="http://schemas.microsoft.com/office/powerpoint/2010/main" val="125827965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BE3123A-DEF2-44C8-934B-8DA66CA886FA}"/>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32A3A"/>
                </a:solidFill>
                <a:latin typeface="Helvetica Neue"/>
                <a:ea typeface="Helvetica Neue"/>
                <a:cs typeface="Helvetica Neue"/>
              </a:defRPr>
            </a:defPPr>
            <a:lvl1pPr>
              <a:defRPr sz="3300" b="1">
                <a:solidFill>
                  <a:srgbClr val="132A3A"/>
                </a:solidFill>
                <a:latin typeface="Helvetica Neue"/>
                <a:ea typeface="Helvetica Neue"/>
                <a:cs typeface="Helvetica Neue"/>
              </a:defRPr>
            </a:lvl1pPr>
            <a:lvl2pPr>
              <a:defRPr sz="3300" b="1">
                <a:solidFill>
                  <a:srgbClr val="132A3A"/>
                </a:solidFill>
                <a:latin typeface="Helvetica Neue"/>
                <a:ea typeface="Helvetica Neue"/>
                <a:cs typeface="Helvetica Neue"/>
              </a:defRPr>
            </a:lvl2pPr>
            <a:lvl3pPr>
              <a:defRPr sz="3300" b="1">
                <a:solidFill>
                  <a:srgbClr val="132A3A"/>
                </a:solidFill>
                <a:latin typeface="Helvetica Neue"/>
                <a:ea typeface="Helvetica Neue"/>
                <a:cs typeface="Helvetica Neue"/>
              </a:defRPr>
            </a:lvl3pPr>
            <a:lvl4pPr>
              <a:defRPr sz="3300" b="1">
                <a:solidFill>
                  <a:srgbClr val="132A3A"/>
                </a:solidFill>
                <a:latin typeface="Helvetica Neue"/>
                <a:ea typeface="Helvetica Neue"/>
                <a:cs typeface="Helvetica Neue"/>
              </a:defRPr>
            </a:lvl4pPr>
            <a:lvl5pPr>
              <a:defRPr sz="3300" b="1">
                <a:solidFill>
                  <a:srgbClr val="132A3A"/>
                </a:solidFill>
                <a:latin typeface="Helvetica Neue"/>
                <a:ea typeface="Helvetica Neue"/>
                <a:cs typeface="Helvetica Neue"/>
              </a:defRPr>
            </a:lvl5pPr>
            <a:lvl6pPr>
              <a:defRPr sz="3300" b="1">
                <a:solidFill>
                  <a:srgbClr val="132A3A"/>
                </a:solidFill>
                <a:latin typeface="Helvetica Neue"/>
                <a:ea typeface="Helvetica Neue"/>
                <a:cs typeface="Helvetica Neue"/>
              </a:defRPr>
            </a:lvl6pPr>
            <a:lvl7pPr>
              <a:defRPr sz="3300" b="1">
                <a:solidFill>
                  <a:srgbClr val="132A3A"/>
                </a:solidFill>
                <a:latin typeface="Helvetica Neue"/>
                <a:ea typeface="Helvetica Neue"/>
                <a:cs typeface="Helvetica Neue"/>
              </a:defRPr>
            </a:lvl7pPr>
            <a:lvl8pPr>
              <a:defRPr sz="3300" b="1">
                <a:solidFill>
                  <a:srgbClr val="132A3A"/>
                </a:solidFill>
                <a:latin typeface="Helvetica Neue"/>
                <a:ea typeface="Helvetica Neue"/>
                <a:cs typeface="Helvetica Neue"/>
              </a:defRPr>
            </a:lvl8pPr>
            <a:lvl9pPr>
              <a:defRPr sz="3300" b="1">
                <a:solidFill>
                  <a:srgbClr val="132A3A"/>
                </a:solidFill>
                <a:latin typeface="Helvetica Neue"/>
                <a:ea typeface="Helvetica Neue"/>
                <a:cs typeface="Helvetica Neue"/>
              </a:defRPr>
            </a:lvl9pPr>
          </a:lstStyle>
          <a:p xmlns:a="http://schemas.openxmlformats.org/drawingml/2006/main">
            <a:pPr>
              <a:defRPr sz="3300" b="1">
                <a:solidFill>
                  <a:srgbClr val="132A3A"/>
                </a:solidFill>
                <a:latin typeface="Helvetica Neue"/>
                <a:ea typeface="Helvetica Neue"/>
                <a:cs typeface="Helvetica Neue"/>
              </a:defRPr>
            </a:pPr>
            <a:r>
              <a:rPr sz="3300" b="1">
                <a:solidFill>
                  <a:srgbClr val="132A3A"/>
                </a:solidFill>
                <a:latin typeface="Helvetica Neue"/>
                <a:ea typeface="Helvetica Neue"/>
                <a:cs typeface="Helvetica Neue"/>
              </a:rPr>
              <a:t>Explicit and implicit finite differences</a:t>
            </a:r>
          </a:p>
        </p:txBody>
      </p:sp>
      <p:sp>
        <p:nvSpPr>
          <p:cNvPr id="2" name="">
            <a:extLst xmlns:a="http://schemas.openxmlformats.org/drawingml/2006/main">
              <a:ext uri="{FF2B5EF4-FFF2-40B4-BE49-F238E27FC236}">
                <a16:creationId xmlns:a16="http://schemas.microsoft.com/office/drawing/2014/main" id="{8EDD5188-F30B-4761-A8B5-393AE3CE3C08}"/>
              </a:ext>
            </a:extLst>
          </p:cNvPr>
          <p:cNvSpPr>
            <a:spLocks xmlns:a="http://schemas.openxmlformats.org/drawingml/2006/main" noGrp="1"/>
          </p:cNvSpPr>
          <p:nvPr/>
        </p:nvSpPr>
        <p:spPr>
          <a:xfrm xmlns:a="http://schemas.openxmlformats.org/drawingml/2006/main">
            <a:off x="609600" y="140970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007F87"/>
                </a:solidFill>
                <a:latin typeface="Helvetica Neue"/>
                <a:ea typeface="Helvetica Neue"/>
                <a:cs typeface="Helvetica Neue"/>
              </a:defRPr>
            </a:defPPr>
            <a:lvl1pPr>
              <a:defRPr sz="2550" b="1">
                <a:solidFill>
                  <a:srgbClr val="007F87"/>
                </a:solidFill>
                <a:latin typeface="Helvetica Neue"/>
                <a:ea typeface="Helvetica Neue"/>
                <a:cs typeface="Helvetica Neue"/>
              </a:defRPr>
            </a:lvl1pPr>
            <a:lvl2pPr>
              <a:defRPr sz="2550" b="1">
                <a:solidFill>
                  <a:srgbClr val="007F87"/>
                </a:solidFill>
                <a:latin typeface="Helvetica Neue"/>
                <a:ea typeface="Helvetica Neue"/>
                <a:cs typeface="Helvetica Neue"/>
              </a:defRPr>
            </a:lvl2pPr>
            <a:lvl3pPr>
              <a:defRPr sz="2550" b="1">
                <a:solidFill>
                  <a:srgbClr val="007F87"/>
                </a:solidFill>
                <a:latin typeface="Helvetica Neue"/>
                <a:ea typeface="Helvetica Neue"/>
                <a:cs typeface="Helvetica Neue"/>
              </a:defRPr>
            </a:lvl3pPr>
            <a:lvl4pPr>
              <a:defRPr sz="2550" b="1">
                <a:solidFill>
                  <a:srgbClr val="007F87"/>
                </a:solidFill>
                <a:latin typeface="Helvetica Neue"/>
                <a:ea typeface="Helvetica Neue"/>
                <a:cs typeface="Helvetica Neue"/>
              </a:defRPr>
            </a:lvl4pPr>
            <a:lvl5pPr>
              <a:defRPr sz="2550" b="1">
                <a:solidFill>
                  <a:srgbClr val="007F87"/>
                </a:solidFill>
                <a:latin typeface="Helvetica Neue"/>
                <a:ea typeface="Helvetica Neue"/>
                <a:cs typeface="Helvetica Neue"/>
              </a:defRPr>
            </a:lvl5pPr>
            <a:lvl6pPr>
              <a:defRPr sz="2550" b="1">
                <a:solidFill>
                  <a:srgbClr val="007F87"/>
                </a:solidFill>
                <a:latin typeface="Helvetica Neue"/>
                <a:ea typeface="Helvetica Neue"/>
                <a:cs typeface="Helvetica Neue"/>
              </a:defRPr>
            </a:lvl6pPr>
            <a:lvl7pPr>
              <a:defRPr sz="2550" b="1">
                <a:solidFill>
                  <a:srgbClr val="007F87"/>
                </a:solidFill>
                <a:latin typeface="Helvetica Neue"/>
                <a:ea typeface="Helvetica Neue"/>
                <a:cs typeface="Helvetica Neue"/>
              </a:defRPr>
            </a:lvl7pPr>
            <a:lvl8pPr>
              <a:defRPr sz="2550" b="1">
                <a:solidFill>
                  <a:srgbClr val="007F87"/>
                </a:solidFill>
                <a:latin typeface="Helvetica Neue"/>
                <a:ea typeface="Helvetica Neue"/>
                <a:cs typeface="Helvetica Neue"/>
              </a:defRPr>
            </a:lvl8pPr>
            <a:lvl9pPr>
              <a:defRPr sz="2550" b="1">
                <a:solidFill>
                  <a:srgbClr val="007F87"/>
                </a:solidFill>
                <a:latin typeface="Helvetica Neue"/>
                <a:ea typeface="Helvetica Neue"/>
                <a:cs typeface="Helvetica Neue"/>
              </a:defRPr>
            </a:lvl9pPr>
          </a:lstStyle>
          <a:p xmlns:a="http://schemas.openxmlformats.org/drawingml/2006/main">
            <a:pPr>
              <a:defRPr sz="2550" b="1">
                <a:solidFill>
                  <a:srgbClr val="007F87"/>
                </a:solidFill>
                <a:latin typeface="Helvetica Neue"/>
                <a:ea typeface="Helvetica Neue"/>
                <a:cs typeface="Helvetica Neue"/>
              </a:defRPr>
            </a:pPr>
            <a:r>
              <a:rPr sz="2550" b="1">
                <a:solidFill>
                  <a:srgbClr val="007F87"/>
                </a:solidFill>
                <a:latin typeface="Helvetica Neue"/>
                <a:ea typeface="Helvetica Neue"/>
                <a:cs typeface="Helvetica Neue"/>
              </a:rPr>
              <a:t>Heat equation:  T_t = alpha T_xx</a:t>
            </a:r>
          </a:p>
        </p:txBody>
      </p:sp>
      <p:graphicFrame>
        <p:nvGraphicFramePr>
          <p:cNvPr id="3" name="">
            <a:extLst xmlns:a="http://schemas.openxmlformats.org/drawingml/2006/main">
              <a:ext uri="{FF2B5EF4-FFF2-40B4-BE49-F238E27FC236}">
                <a16:creationId xmlns:a16="http://schemas.microsoft.com/office/drawing/2014/main" id="{EA6A361A-80B5-4559-A7E6-20C5676DE179}"/>
              </a:ext>
            </a:extLst>
          </p:cNvPr>
          <p:cNvGraphicFramePr/>
          <p:nvPr/>
        </p:nvGraphicFramePr>
        <p:xfrm>
          <a:off xmlns:a="http://schemas.openxmlformats.org/drawingml/2006/main" x="609600" y="2181225"/>
          <a:ext xmlns:a="http://schemas.openxmlformats.org/drawingml/2006/main" cx="10972800" cy="2686050"/>
        </p:xfrm>
        <a:graphic xmlns:a="http://schemas.openxmlformats.org/drawingml/2006/main">
          <a:graphicData uri="http://schemas.openxmlformats.org/drawingml/2006/table">
            <a:tbl>
              <a:tblPr firstRow="1" bandRow="0"/>
              <a:tblGrid>
                <a:gridCol w="5486400"/>
                <a:gridCol w="5486400"/>
              </a:tblGrid>
              <a:tr h="537210">
                <a:tc>
                  <a:txBody>
                    <a:bodyPr/>
                    <a:lstStyle/>
                    <a:p>
                      <a:r>
                        <a:rPr sz="1725" b="1">
                          <a:solidFill>
                            <a:srgbClr val="FFFFFF"/>
                          </a:solidFill>
                          <a:latin typeface="Helvetica Neue"/>
                          <a:ea typeface="Helvetica Neue"/>
                          <a:cs typeface="Helvetica Neue"/>
                        </a:rPr>
                        <a:t>FTCS</a:t>
                      </a:r>
                    </a:p>
                  </a:txBody>
                  <a:tcPr marL="91440" marR="91440" marT="45720" marB="45720">
                    <a:lnL w="9525">
                      <a:solidFill>
                        <a:srgbClr val="D7E1E6"/>
                      </a:solidFill>
                    </a:lnL>
                    <a:lnR w="9525">
                      <a:solidFill>
                        <a:srgbClr val="D7E1E6"/>
                      </a:solidFill>
                    </a:lnR>
                    <a:lnT w="9525">
                      <a:solidFill>
                        <a:srgbClr val="D7E1E6"/>
                      </a:solidFill>
                    </a:lnT>
                    <a:lnB w="9525">
                      <a:solidFill>
                        <a:srgbClr val="D7E1E6"/>
                      </a:solidFill>
                    </a:lnB>
                    <a:solidFill>
                      <a:srgbClr val="132A3A"/>
                    </a:solidFill>
                  </a:tcPr>
                </a:tc>
                <a:tc>
                  <a:txBody>
                    <a:bodyPr/>
                    <a:lstStyle/>
                    <a:p>
                      <a:r>
                        <a:rPr sz="1725" b="1">
                          <a:solidFill>
                            <a:srgbClr val="FFFFFF"/>
                          </a:solidFill>
                          <a:latin typeface="Helvetica Neue"/>
                          <a:ea typeface="Helvetica Neue"/>
                          <a:cs typeface="Helvetica Neue"/>
                        </a:rPr>
                        <a:t>Backward Euler</a:t>
                      </a:r>
                    </a:p>
                  </a:txBody>
                  <a:tcPr marL="91440" marR="91440" marT="45720" marB="45720">
                    <a:lnR w="9525">
                      <a:solidFill>
                        <a:srgbClr val="D7E1E6"/>
                      </a:solidFill>
                    </a:lnR>
                    <a:lnT w="9525">
                      <a:solidFill>
                        <a:srgbClr val="D7E1E6"/>
                      </a:solidFill>
                    </a:lnT>
                    <a:lnB w="9525">
                      <a:solidFill>
                        <a:srgbClr val="D7E1E6"/>
                      </a:solidFill>
                    </a:lnB>
                    <a:solidFill>
                      <a:srgbClr val="132A3A"/>
                    </a:solidFill>
                  </a:tcPr>
                </a:tc>
              </a:tr>
              <a:tr h="537210">
                <a:tc>
                  <a:txBody>
                    <a:bodyPr/>
                    <a:lstStyle/>
                    <a:p>
                      <a:r>
                        <a:rPr sz="1725" b="0">
                          <a:solidFill>
                            <a:srgbClr val="132A3A"/>
                          </a:solidFill>
                          <a:latin typeface="Helvetica Neue"/>
                          <a:ea typeface="Helvetica Neue"/>
                          <a:cs typeface="Helvetica Neue"/>
                        </a:rPr>
                        <a:t>Update from the old field</a:t>
                      </a:r>
                    </a:p>
                  </a:txBody>
                  <a:tcPr marL="91440" marR="91440" marT="45720" marB="45720">
                    <a:lnL w="9525">
                      <a:solidFill>
                        <a:srgbClr val="D7E1E6"/>
                      </a:solidFill>
                    </a:lnL>
                    <a:lnR w="9525">
                      <a:solidFill>
                        <a:srgbClr val="D7E1E6"/>
                      </a:solidFill>
                    </a:lnR>
                    <a:lnB w="9525">
                      <a:solidFill>
                        <a:srgbClr val="D7E1E6"/>
                      </a:solidFill>
                    </a:lnB>
                    <a:solidFill>
                      <a:srgbClr val="FFFFFF"/>
                    </a:solidFill>
                  </a:tcPr>
                </a:tc>
                <a:tc>
                  <a:txBody>
                    <a:bodyPr/>
                    <a:lstStyle/>
                    <a:p>
                      <a:r>
                        <a:rPr sz="1725" b="0">
                          <a:solidFill>
                            <a:srgbClr val="132A3A"/>
                          </a:solidFill>
                          <a:latin typeface="Helvetica Neue"/>
                          <a:ea typeface="Helvetica Neue"/>
                          <a:cs typeface="Helvetica Neue"/>
                        </a:rPr>
                        <a:t>Solve a tridiagonal system</a:t>
                      </a:r>
                    </a:p>
                  </a:txBody>
                  <a:tcPr marL="91440" marR="91440" marT="45720" marB="45720">
                    <a:lnR w="9525">
                      <a:solidFill>
                        <a:srgbClr val="D7E1E6"/>
                      </a:solidFill>
                    </a:lnR>
                    <a:lnB w="9525">
                      <a:solidFill>
                        <a:srgbClr val="D7E1E6"/>
                      </a:solidFill>
                    </a:lnB>
                    <a:solidFill>
                      <a:srgbClr val="FFFFFF"/>
                    </a:solidFill>
                  </a:tcPr>
                </a:tc>
              </a:tr>
              <a:tr h="537210">
                <a:tc>
                  <a:txBody>
                    <a:bodyPr/>
                    <a:lstStyle/>
                    <a:p>
                      <a:r>
                        <a:rPr sz="1725" b="0">
                          <a:solidFill>
                            <a:srgbClr val="132A3A"/>
                          </a:solidFill>
                          <a:latin typeface="Helvetica Neue"/>
                          <a:ea typeface="Helvetica Neue"/>
                          <a:cs typeface="Helvetica Neue"/>
                        </a:rPr>
                        <a:t>r = alpha dt / dx² ≤ 0.5</a:t>
                      </a:r>
                    </a:p>
                  </a:txBody>
                  <a:tcPr marL="91440" marR="91440" marT="45720" marB="45720">
                    <a:lnL w="9525">
                      <a:solidFill>
                        <a:srgbClr val="D7E1E6"/>
                      </a:solidFill>
                    </a:lnL>
                    <a:lnR w="9525">
                      <a:solidFill>
                        <a:srgbClr val="D7E1E6"/>
                      </a:solidFill>
                    </a:lnR>
                    <a:lnB w="9525">
                      <a:solidFill>
                        <a:srgbClr val="D7E1E6"/>
                      </a:solidFill>
                    </a:lnB>
                    <a:solidFill>
                      <a:srgbClr val="FFFFFF"/>
                    </a:solidFill>
                  </a:tcPr>
                </a:tc>
                <a:tc>
                  <a:txBody>
                    <a:bodyPr/>
                    <a:lstStyle/>
                    <a:p>
                      <a:r>
                        <a:rPr sz="1725" b="0">
                          <a:solidFill>
                            <a:srgbClr val="132A3A"/>
                          </a:solidFill>
                          <a:latin typeface="Helvetica Neue"/>
                          <a:ea typeface="Helvetica Neue"/>
                          <a:cs typeface="Helvetica Neue"/>
                        </a:rPr>
                        <a:t>Stable for any positive step</a:t>
                      </a:r>
                    </a:p>
                  </a:txBody>
                  <a:tcPr marL="91440" marR="91440" marT="45720" marB="45720">
                    <a:lnR w="9525">
                      <a:solidFill>
                        <a:srgbClr val="D7E1E6"/>
                      </a:solidFill>
                    </a:lnR>
                    <a:lnB w="9525">
                      <a:solidFill>
                        <a:srgbClr val="D7E1E6"/>
                      </a:solidFill>
                    </a:lnB>
                    <a:solidFill>
                      <a:srgbClr val="FFFFFF"/>
                    </a:solidFill>
                  </a:tcPr>
                </a:tc>
              </a:tr>
              <a:tr h="537210">
                <a:tc>
                  <a:txBody>
                    <a:bodyPr/>
                    <a:lstStyle/>
                    <a:p>
                      <a:r>
                        <a:rPr sz="1725" b="0">
                          <a:solidFill>
                            <a:srgbClr val="132A3A"/>
                          </a:solidFill>
                          <a:latin typeface="Helvetica Neue"/>
                          <a:ea typeface="Helvetica Neue"/>
                          <a:cs typeface="Helvetica Neue"/>
                        </a:rPr>
                        <a:t>First order in time</a:t>
                      </a:r>
                    </a:p>
                  </a:txBody>
                  <a:tcPr marL="91440" marR="91440" marT="45720" marB="45720">
                    <a:lnL w="9525">
                      <a:solidFill>
                        <a:srgbClr val="D7E1E6"/>
                      </a:solidFill>
                    </a:lnL>
                    <a:lnR w="9525">
                      <a:solidFill>
                        <a:srgbClr val="D7E1E6"/>
                      </a:solidFill>
                    </a:lnR>
                    <a:lnB w="9525">
                      <a:solidFill>
                        <a:srgbClr val="D7E1E6"/>
                      </a:solidFill>
                    </a:lnB>
                    <a:solidFill>
                      <a:srgbClr val="FFFFFF"/>
                    </a:solidFill>
                  </a:tcPr>
                </a:tc>
                <a:tc>
                  <a:txBody>
                    <a:bodyPr/>
                    <a:lstStyle/>
                    <a:p>
                      <a:r>
                        <a:rPr sz="1725" b="0">
                          <a:solidFill>
                            <a:srgbClr val="132A3A"/>
                          </a:solidFill>
                          <a:latin typeface="Helvetica Neue"/>
                          <a:ea typeface="Helvetica Neue"/>
                          <a:cs typeface="Helvetica Neue"/>
                        </a:rPr>
                        <a:t>First order in time</a:t>
                      </a:r>
                    </a:p>
                  </a:txBody>
                  <a:tcPr marL="91440" marR="91440" marT="45720" marB="45720">
                    <a:lnR w="9525">
                      <a:solidFill>
                        <a:srgbClr val="D7E1E6"/>
                      </a:solidFill>
                    </a:lnR>
                    <a:lnB w="9525">
                      <a:solidFill>
                        <a:srgbClr val="D7E1E6"/>
                      </a:solidFill>
                    </a:lnB>
                    <a:solidFill>
                      <a:srgbClr val="FFFFFF"/>
                    </a:solidFill>
                  </a:tcPr>
                </a:tc>
              </a:tr>
              <a:tr h="537210">
                <a:tc>
                  <a:txBody>
                    <a:bodyPr/>
                    <a:lstStyle/>
                    <a:p>
                      <a:r>
                        <a:rPr sz="1725" b="0">
                          <a:solidFill>
                            <a:srgbClr val="132A3A"/>
                          </a:solidFill>
                          <a:latin typeface="Helvetica Neue"/>
                          <a:ea typeface="Helvetica Neue"/>
                          <a:cs typeface="Helvetica Neue"/>
                        </a:rPr>
                        <a:t>Second order in space</a:t>
                      </a:r>
                    </a:p>
                  </a:txBody>
                  <a:tcPr marL="91440" marR="91440" marT="45720" marB="45720">
                    <a:lnL w="9525">
                      <a:solidFill>
                        <a:srgbClr val="D7E1E6"/>
                      </a:solidFill>
                    </a:lnL>
                    <a:lnR w="9525">
                      <a:solidFill>
                        <a:srgbClr val="D7E1E6"/>
                      </a:solidFill>
                    </a:lnR>
                    <a:lnB w="9525">
                      <a:solidFill>
                        <a:srgbClr val="D7E1E6"/>
                      </a:solidFill>
                    </a:lnB>
                    <a:solidFill>
                      <a:srgbClr val="FFFFFF"/>
                    </a:solidFill>
                  </a:tcPr>
                </a:tc>
                <a:tc>
                  <a:txBody>
                    <a:bodyPr/>
                    <a:lstStyle/>
                    <a:p>
                      <a:r>
                        <a:rPr sz="1725" b="0">
                          <a:solidFill>
                            <a:srgbClr val="132A3A"/>
                          </a:solidFill>
                          <a:latin typeface="Helvetica Neue"/>
                          <a:ea typeface="Helvetica Neue"/>
                          <a:cs typeface="Helvetica Neue"/>
                        </a:rPr>
                        <a:t>Second order in space</a:t>
                      </a:r>
                    </a:p>
                  </a:txBody>
                  <a:tcPr marL="91440" marR="91440" marT="45720" marB="45720">
                    <a:lnR w="9525">
                      <a:solidFill>
                        <a:srgbClr val="D7E1E6"/>
                      </a:solidFill>
                    </a:lnR>
                    <a:lnB w="9525">
                      <a:solidFill>
                        <a:srgbClr val="D7E1E6"/>
                      </a:solidFill>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98D8571-DF19-4DA1-A2A0-7EA2E5BD34A1}"/>
              </a:ext>
            </a:extLst>
          </p:cNvPr>
          <p:cNvSpPr>
            <a:spLocks xmlns:a="http://schemas.openxmlformats.org/drawingml/2006/main" noGrp="1"/>
          </p:cNvSpPr>
          <p:nvPr/>
        </p:nvSpPr>
        <p:spPr>
          <a:xfrm xmlns:a="http://schemas.openxmlformats.org/drawingml/2006/main">
            <a:off x="609600" y="5162550"/>
            <a:ext cx="10810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BD551E"/>
                </a:solidFill>
                <a:latin typeface="Helvetica Neue"/>
                <a:ea typeface="Helvetica Neue"/>
                <a:cs typeface="Helvetica Neue"/>
              </a:defRPr>
            </a:defPPr>
            <a:lvl1pPr>
              <a:defRPr sz="2250" b="1">
                <a:solidFill>
                  <a:srgbClr val="BD551E"/>
                </a:solidFill>
                <a:latin typeface="Helvetica Neue"/>
                <a:ea typeface="Helvetica Neue"/>
                <a:cs typeface="Helvetica Neue"/>
              </a:defRPr>
            </a:lvl1pPr>
            <a:lvl2pPr>
              <a:defRPr sz="2250" b="1">
                <a:solidFill>
                  <a:srgbClr val="BD551E"/>
                </a:solidFill>
                <a:latin typeface="Helvetica Neue"/>
                <a:ea typeface="Helvetica Neue"/>
                <a:cs typeface="Helvetica Neue"/>
              </a:defRPr>
            </a:lvl2pPr>
            <a:lvl3pPr>
              <a:defRPr sz="2250" b="1">
                <a:solidFill>
                  <a:srgbClr val="BD551E"/>
                </a:solidFill>
                <a:latin typeface="Helvetica Neue"/>
                <a:ea typeface="Helvetica Neue"/>
                <a:cs typeface="Helvetica Neue"/>
              </a:defRPr>
            </a:lvl3pPr>
            <a:lvl4pPr>
              <a:defRPr sz="2250" b="1">
                <a:solidFill>
                  <a:srgbClr val="BD551E"/>
                </a:solidFill>
                <a:latin typeface="Helvetica Neue"/>
                <a:ea typeface="Helvetica Neue"/>
                <a:cs typeface="Helvetica Neue"/>
              </a:defRPr>
            </a:lvl4pPr>
            <a:lvl5pPr>
              <a:defRPr sz="2250" b="1">
                <a:solidFill>
                  <a:srgbClr val="BD551E"/>
                </a:solidFill>
                <a:latin typeface="Helvetica Neue"/>
                <a:ea typeface="Helvetica Neue"/>
                <a:cs typeface="Helvetica Neue"/>
              </a:defRPr>
            </a:lvl5pPr>
            <a:lvl6pPr>
              <a:defRPr sz="2250" b="1">
                <a:solidFill>
                  <a:srgbClr val="BD551E"/>
                </a:solidFill>
                <a:latin typeface="Helvetica Neue"/>
                <a:ea typeface="Helvetica Neue"/>
                <a:cs typeface="Helvetica Neue"/>
              </a:defRPr>
            </a:lvl6pPr>
            <a:lvl7pPr>
              <a:defRPr sz="2250" b="1">
                <a:solidFill>
                  <a:srgbClr val="BD551E"/>
                </a:solidFill>
                <a:latin typeface="Helvetica Neue"/>
                <a:ea typeface="Helvetica Neue"/>
                <a:cs typeface="Helvetica Neue"/>
              </a:defRPr>
            </a:lvl7pPr>
            <a:lvl8pPr>
              <a:defRPr sz="2250" b="1">
                <a:solidFill>
                  <a:srgbClr val="BD551E"/>
                </a:solidFill>
                <a:latin typeface="Helvetica Neue"/>
                <a:ea typeface="Helvetica Neue"/>
                <a:cs typeface="Helvetica Neue"/>
              </a:defRPr>
            </a:lvl8pPr>
            <a:lvl9pPr>
              <a:defRPr sz="2250" b="1">
                <a:solidFill>
                  <a:srgbClr val="BD551E"/>
                </a:solidFill>
                <a:latin typeface="Helvetica Neue"/>
                <a:ea typeface="Helvetica Neue"/>
                <a:cs typeface="Helvetica Neue"/>
              </a:defRPr>
            </a:lvl9pPr>
          </a:lstStyle>
          <a:p xmlns:a="http://schemas.openxmlformats.org/drawingml/2006/main">
            <a:pPr>
              <a:defRPr sz="2250" b="1">
                <a:solidFill>
                  <a:srgbClr val="BD551E"/>
                </a:solidFill>
                <a:latin typeface="Helvetica Neue"/>
                <a:ea typeface="Helvetica Neue"/>
                <a:cs typeface="Helvetica Neue"/>
              </a:defRPr>
            </a:pPr>
            <a:r>
              <a:rPr sz="2250" b="1">
                <a:solidFill>
                  <a:srgbClr val="BD551E"/>
                </a:solidFill>
                <a:latin typeface="Helvetica Neue"/>
                <a:ea typeface="Helvetica Neue"/>
                <a:cs typeface="Helvetica Neue"/>
              </a:rPr>
              <a:t>Accuracy still limits the implicit time step</a:t>
            </a:r>
          </a:p>
        </p:txBody>
      </p:sp>
      <p:sp>
        <p:nvSpPr>
          <p:cNvPr id="5" name="">
            <a:extLst xmlns:a="http://schemas.openxmlformats.org/drawingml/2006/main">
              <a:ext uri="{FF2B5EF4-FFF2-40B4-BE49-F238E27FC236}">
                <a16:creationId xmlns:a16="http://schemas.microsoft.com/office/drawing/2014/main" id="{284D82CD-A5BB-4570-8011-241BDF83F37C}"/>
              </a:ext>
            </a:extLst>
          </p:cNvPr>
          <p:cNvSpPr>
            <a:spLocks xmlns:a="http://schemas.openxmlformats.org/drawingml/2006/main" noGrp="1"/>
          </p:cNvSpPr>
          <p:nvPr/>
        </p:nvSpPr>
        <p:spPr>
          <a:xfrm xmlns:a="http://schemas.openxmlformats.org/drawingml/2006/main">
            <a:off x="609600" y="581025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49616E"/>
                </a:solidFill>
                <a:latin typeface="Helvetica Neue"/>
                <a:ea typeface="Helvetica Neue"/>
                <a:cs typeface="Helvetica Neue"/>
              </a:defRPr>
            </a:defPPr>
            <a:lvl1pPr>
              <a:defRPr sz="1800" b="0">
                <a:solidFill>
                  <a:srgbClr val="49616E"/>
                </a:solidFill>
                <a:latin typeface="Helvetica Neue"/>
                <a:ea typeface="Helvetica Neue"/>
                <a:cs typeface="Helvetica Neue"/>
              </a:defRPr>
            </a:lvl1pPr>
            <a:lvl2pPr>
              <a:defRPr sz="1800" b="0">
                <a:solidFill>
                  <a:srgbClr val="49616E"/>
                </a:solidFill>
                <a:latin typeface="Helvetica Neue"/>
                <a:ea typeface="Helvetica Neue"/>
                <a:cs typeface="Helvetica Neue"/>
              </a:defRPr>
            </a:lvl2pPr>
            <a:lvl3pPr>
              <a:defRPr sz="1800" b="0">
                <a:solidFill>
                  <a:srgbClr val="49616E"/>
                </a:solidFill>
                <a:latin typeface="Helvetica Neue"/>
                <a:ea typeface="Helvetica Neue"/>
                <a:cs typeface="Helvetica Neue"/>
              </a:defRPr>
            </a:lvl3pPr>
            <a:lvl4pPr>
              <a:defRPr sz="1800" b="0">
                <a:solidFill>
                  <a:srgbClr val="49616E"/>
                </a:solidFill>
                <a:latin typeface="Helvetica Neue"/>
                <a:ea typeface="Helvetica Neue"/>
                <a:cs typeface="Helvetica Neue"/>
              </a:defRPr>
            </a:lvl4pPr>
            <a:lvl5pPr>
              <a:defRPr sz="1800" b="0">
                <a:solidFill>
                  <a:srgbClr val="49616E"/>
                </a:solidFill>
                <a:latin typeface="Helvetica Neue"/>
                <a:ea typeface="Helvetica Neue"/>
                <a:cs typeface="Helvetica Neue"/>
              </a:defRPr>
            </a:lvl5pPr>
            <a:lvl6pPr>
              <a:defRPr sz="1800" b="0">
                <a:solidFill>
                  <a:srgbClr val="49616E"/>
                </a:solidFill>
                <a:latin typeface="Helvetica Neue"/>
                <a:ea typeface="Helvetica Neue"/>
                <a:cs typeface="Helvetica Neue"/>
              </a:defRPr>
            </a:lvl6pPr>
            <a:lvl7pPr>
              <a:defRPr sz="1800" b="0">
                <a:solidFill>
                  <a:srgbClr val="49616E"/>
                </a:solidFill>
                <a:latin typeface="Helvetica Neue"/>
                <a:ea typeface="Helvetica Neue"/>
                <a:cs typeface="Helvetica Neue"/>
              </a:defRPr>
            </a:lvl7pPr>
            <a:lvl8pPr>
              <a:defRPr sz="1800" b="0">
                <a:solidFill>
                  <a:srgbClr val="49616E"/>
                </a:solidFill>
                <a:latin typeface="Helvetica Neue"/>
                <a:ea typeface="Helvetica Neue"/>
                <a:cs typeface="Helvetica Neue"/>
              </a:defRPr>
            </a:lvl8pPr>
            <a:lvl9pPr>
              <a:defRPr sz="1800" b="0">
                <a:solidFill>
                  <a:srgbClr val="49616E"/>
                </a:solidFill>
                <a:latin typeface="Helvetica Neue"/>
                <a:ea typeface="Helvetica Neue"/>
                <a:cs typeface="Helvetica Neue"/>
              </a:defRPr>
            </a:lvl9pPr>
          </a:lstStyle>
          <a:p xmlns:a="http://schemas.openxmlformats.org/drawingml/2006/main">
            <a:pPr>
              <a:defRPr sz="1800" b="0">
                <a:solidFill>
                  <a:srgbClr val="49616E"/>
                </a:solidFill>
                <a:latin typeface="Helvetica Neue"/>
                <a:ea typeface="Helvetica Neue"/>
                <a:cs typeface="Helvetica Neue"/>
              </a:defRPr>
            </a:pPr>
            <a:r>
              <a:rPr sz="1800" b="0">
                <a:solidFill>
                  <a:srgbClr val="49616E"/>
                </a:solidFill>
                <a:latin typeface="Helvetica Neue"/>
                <a:ea typeface="Helvetica Neue"/>
                <a:cs typeface="Helvetica Neue"/>
              </a:rPr>
              <a:t>One-dimensional conduction. Equal fixed face temperatures. No heat source, phase change or convection model.</a:t>
            </a:r>
          </a:p>
        </p:txBody>
      </p:sp>
    </p:spTree>
    <p:extLst>
      <p:ext uri="{BB962C8B-B14F-4D97-AF65-F5344CB8AC3E}">
        <p14:creationId xmlns:p14="http://schemas.microsoft.com/office/powerpoint/2010/main" val="6019777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4E5CCC6-47C3-4EA4-9E8E-B79AF88E2289}"/>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32A3A"/>
                </a:solidFill>
                <a:latin typeface="Helvetica Neue"/>
                <a:ea typeface="Helvetica Neue"/>
                <a:cs typeface="Helvetica Neue"/>
              </a:defRPr>
            </a:defPPr>
            <a:lvl1pPr>
              <a:defRPr sz="3300" b="1">
                <a:solidFill>
                  <a:srgbClr val="132A3A"/>
                </a:solidFill>
                <a:latin typeface="Helvetica Neue"/>
                <a:ea typeface="Helvetica Neue"/>
                <a:cs typeface="Helvetica Neue"/>
              </a:defRPr>
            </a:lvl1pPr>
            <a:lvl2pPr>
              <a:defRPr sz="3300" b="1">
                <a:solidFill>
                  <a:srgbClr val="132A3A"/>
                </a:solidFill>
                <a:latin typeface="Helvetica Neue"/>
                <a:ea typeface="Helvetica Neue"/>
                <a:cs typeface="Helvetica Neue"/>
              </a:defRPr>
            </a:lvl2pPr>
            <a:lvl3pPr>
              <a:defRPr sz="3300" b="1">
                <a:solidFill>
                  <a:srgbClr val="132A3A"/>
                </a:solidFill>
                <a:latin typeface="Helvetica Neue"/>
                <a:ea typeface="Helvetica Neue"/>
                <a:cs typeface="Helvetica Neue"/>
              </a:defRPr>
            </a:lvl3pPr>
            <a:lvl4pPr>
              <a:defRPr sz="3300" b="1">
                <a:solidFill>
                  <a:srgbClr val="132A3A"/>
                </a:solidFill>
                <a:latin typeface="Helvetica Neue"/>
                <a:ea typeface="Helvetica Neue"/>
                <a:cs typeface="Helvetica Neue"/>
              </a:defRPr>
            </a:lvl4pPr>
            <a:lvl5pPr>
              <a:defRPr sz="3300" b="1">
                <a:solidFill>
                  <a:srgbClr val="132A3A"/>
                </a:solidFill>
                <a:latin typeface="Helvetica Neue"/>
                <a:ea typeface="Helvetica Neue"/>
                <a:cs typeface="Helvetica Neue"/>
              </a:defRPr>
            </a:lvl5pPr>
            <a:lvl6pPr>
              <a:defRPr sz="3300" b="1">
                <a:solidFill>
                  <a:srgbClr val="132A3A"/>
                </a:solidFill>
                <a:latin typeface="Helvetica Neue"/>
                <a:ea typeface="Helvetica Neue"/>
                <a:cs typeface="Helvetica Neue"/>
              </a:defRPr>
            </a:lvl6pPr>
            <a:lvl7pPr>
              <a:defRPr sz="3300" b="1">
                <a:solidFill>
                  <a:srgbClr val="132A3A"/>
                </a:solidFill>
                <a:latin typeface="Helvetica Neue"/>
                <a:ea typeface="Helvetica Neue"/>
                <a:cs typeface="Helvetica Neue"/>
              </a:defRPr>
            </a:lvl7pPr>
            <a:lvl8pPr>
              <a:defRPr sz="3300" b="1">
                <a:solidFill>
                  <a:srgbClr val="132A3A"/>
                </a:solidFill>
                <a:latin typeface="Helvetica Neue"/>
                <a:ea typeface="Helvetica Neue"/>
                <a:cs typeface="Helvetica Neue"/>
              </a:defRPr>
            </a:lvl8pPr>
            <a:lvl9pPr>
              <a:defRPr sz="3300" b="1">
                <a:solidFill>
                  <a:srgbClr val="132A3A"/>
                </a:solidFill>
                <a:latin typeface="Helvetica Neue"/>
                <a:ea typeface="Helvetica Neue"/>
                <a:cs typeface="Helvetica Neue"/>
              </a:defRPr>
            </a:lvl9pPr>
          </a:lstStyle>
          <a:p xmlns:a="http://schemas.openxmlformats.org/drawingml/2006/main">
            <a:pPr>
              <a:defRPr sz="3300" b="1">
                <a:solidFill>
                  <a:srgbClr val="132A3A"/>
                </a:solidFill>
                <a:latin typeface="Helvetica Neue"/>
                <a:ea typeface="Helvetica Neue"/>
                <a:cs typeface="Helvetica Neue"/>
              </a:defRPr>
            </a:pPr>
            <a:r>
              <a:rPr sz="3300" b="1">
                <a:solidFill>
                  <a:srgbClr val="132A3A"/>
                </a:solidFill>
                <a:latin typeface="Helvetica Neue"/>
                <a:ea typeface="Helvetica Neue"/>
                <a:cs typeface="Helvetica Neue"/>
              </a:rPr>
              <a:t>Verification against exact solutions</a:t>
            </a:r>
          </a:p>
        </p:txBody>
      </p:sp>
      <p:graphicFrame>
        <p:nvGraphicFramePr>
          <p:cNvPr id="2" name="Chart">
            <a:extLst xmlns:a="http://schemas.openxmlformats.org/drawingml/2006/main">
              <a:ext uri="{FF2B5EF4-FFF2-40B4-BE49-F238E27FC236}">
                <a16:creationId xmlns:a16="http://schemas.microsoft.com/office/drawing/2014/main" id="{DEEE1260-2F77-4940-8E6A-C4A5B310C01A}"/>
              </a:ext>
            </a:extLst>
          </p:cNvPr>
          <p:cNvGraphicFramePr/>
          <p:nvPr/>
        </p:nvGraphicFramePr>
        <p:xfrm>
          <a:off xmlns:a="http://schemas.openxmlformats.org/drawingml/2006/main" x="590550" y="1495425"/>
          <a:ext xmlns:a="http://schemas.openxmlformats.org/drawingml/2006/main" cx="7143750" cy="3905250"/>
        </p:xfrm>
        <a:graphic xmlns:a="http://schemas.openxmlformats.org/drawingml/2006/main">
          <a:graphicData uri="http://schemas.openxmlformats.org/drawingml/2006/chart">
            <c:chart xmlns:r="http://schemas.openxmlformats.org/officeDocument/2006/relationships" xmlns:c="http://schemas.openxmlformats.org/drawingml/2006/chart" r:id="R03c8f41106fe4145"/>
          </a:graphicData>
        </a:graphic>
      </p:graphicFrame>
      <p:sp>
        <p:nvSpPr>
          <p:cNvPr id="3" name="">
            <a:extLst xmlns:a="http://schemas.openxmlformats.org/drawingml/2006/main">
              <a:ext uri="{FF2B5EF4-FFF2-40B4-BE49-F238E27FC236}">
                <a16:creationId xmlns:a16="http://schemas.microsoft.com/office/drawing/2014/main" id="{1834931C-2501-4763-A128-495C744DEB78}"/>
              </a:ext>
            </a:extLst>
          </p:cNvPr>
          <p:cNvSpPr>
            <a:spLocks xmlns:a="http://schemas.openxmlformats.org/drawingml/2006/main" noGrp="1"/>
          </p:cNvSpPr>
          <p:nvPr/>
        </p:nvSpPr>
        <p:spPr>
          <a:xfrm xmlns:a="http://schemas.openxmlformats.org/drawingml/2006/main">
            <a:off x="8210550" y="1666875"/>
            <a:ext cx="3190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007F87"/>
                </a:solidFill>
                <a:latin typeface="Helvetica Neue"/>
                <a:ea typeface="Helvetica Neue"/>
                <a:cs typeface="Helvetica Neue"/>
              </a:defRPr>
            </a:defPPr>
            <a:lvl1pPr>
              <a:defRPr sz="2100" b="1">
                <a:solidFill>
                  <a:srgbClr val="007F87"/>
                </a:solidFill>
                <a:latin typeface="Helvetica Neue"/>
                <a:ea typeface="Helvetica Neue"/>
                <a:cs typeface="Helvetica Neue"/>
              </a:defRPr>
            </a:lvl1pPr>
            <a:lvl2pPr>
              <a:defRPr sz="2100" b="1">
                <a:solidFill>
                  <a:srgbClr val="007F87"/>
                </a:solidFill>
                <a:latin typeface="Helvetica Neue"/>
                <a:ea typeface="Helvetica Neue"/>
                <a:cs typeface="Helvetica Neue"/>
              </a:defRPr>
            </a:lvl2pPr>
            <a:lvl3pPr>
              <a:defRPr sz="2100" b="1">
                <a:solidFill>
                  <a:srgbClr val="007F87"/>
                </a:solidFill>
                <a:latin typeface="Helvetica Neue"/>
                <a:ea typeface="Helvetica Neue"/>
                <a:cs typeface="Helvetica Neue"/>
              </a:defRPr>
            </a:lvl3pPr>
            <a:lvl4pPr>
              <a:defRPr sz="2100" b="1">
                <a:solidFill>
                  <a:srgbClr val="007F87"/>
                </a:solidFill>
                <a:latin typeface="Helvetica Neue"/>
                <a:ea typeface="Helvetica Neue"/>
                <a:cs typeface="Helvetica Neue"/>
              </a:defRPr>
            </a:lvl4pPr>
            <a:lvl5pPr>
              <a:defRPr sz="2100" b="1">
                <a:solidFill>
                  <a:srgbClr val="007F87"/>
                </a:solidFill>
                <a:latin typeface="Helvetica Neue"/>
                <a:ea typeface="Helvetica Neue"/>
                <a:cs typeface="Helvetica Neue"/>
              </a:defRPr>
            </a:lvl5pPr>
            <a:lvl6pPr>
              <a:defRPr sz="2100" b="1">
                <a:solidFill>
                  <a:srgbClr val="007F87"/>
                </a:solidFill>
                <a:latin typeface="Helvetica Neue"/>
                <a:ea typeface="Helvetica Neue"/>
                <a:cs typeface="Helvetica Neue"/>
              </a:defRPr>
            </a:lvl6pPr>
            <a:lvl7pPr>
              <a:defRPr sz="2100" b="1">
                <a:solidFill>
                  <a:srgbClr val="007F87"/>
                </a:solidFill>
                <a:latin typeface="Helvetica Neue"/>
                <a:ea typeface="Helvetica Neue"/>
                <a:cs typeface="Helvetica Neue"/>
              </a:defRPr>
            </a:lvl7pPr>
            <a:lvl8pPr>
              <a:defRPr sz="2100" b="1">
                <a:solidFill>
                  <a:srgbClr val="007F87"/>
                </a:solidFill>
                <a:latin typeface="Helvetica Neue"/>
                <a:ea typeface="Helvetica Neue"/>
                <a:cs typeface="Helvetica Neue"/>
              </a:defRPr>
            </a:lvl8pPr>
            <a:lvl9pPr>
              <a:defRPr sz="2100" b="1">
                <a:solidFill>
                  <a:srgbClr val="007F87"/>
                </a:solidFill>
                <a:latin typeface="Helvetica Neue"/>
                <a:ea typeface="Helvetica Neue"/>
                <a:cs typeface="Helvetica Neue"/>
              </a:defRPr>
            </a:lvl9pPr>
          </a:lstStyle>
          <a:p xmlns:a="http://schemas.openxmlformats.org/drawingml/2006/main">
            <a:pPr>
              <a:defRPr sz="2100" b="1">
                <a:solidFill>
                  <a:srgbClr val="007F87"/>
                </a:solidFill>
                <a:latin typeface="Helvetica Neue"/>
                <a:ea typeface="Helvetica Neue"/>
                <a:cs typeface="Helvetica Neue"/>
              </a:defRPr>
            </a:pPr>
            <a:r>
              <a:rPr sz="2100" b="1">
                <a:solidFill>
                  <a:srgbClr val="007F87"/>
                </a:solidFill>
                <a:latin typeface="Helvetica Neue"/>
                <a:ea typeface="Helvetica Neue"/>
                <a:cs typeface="Helvetica Neue"/>
              </a:rPr>
              <a:t>Two analytical checks</a:t>
            </a:r>
          </a:p>
        </p:txBody>
      </p:sp>
      <p:sp>
        <p:nvSpPr>
          <p:cNvPr id="4" name="">
            <a:extLst xmlns:a="http://schemas.openxmlformats.org/drawingml/2006/main">
              <a:ext uri="{FF2B5EF4-FFF2-40B4-BE49-F238E27FC236}">
                <a16:creationId xmlns:a16="http://schemas.microsoft.com/office/drawing/2014/main" id="{ACD1A5C0-77D0-46B7-A05A-331AF1D7A130}"/>
              </a:ext>
            </a:extLst>
          </p:cNvPr>
          <p:cNvSpPr>
            <a:spLocks xmlns:a="http://schemas.openxmlformats.org/drawingml/2006/main" noGrp="1"/>
          </p:cNvSpPr>
          <p:nvPr/>
        </p:nvSpPr>
        <p:spPr>
          <a:xfrm xmlns:a="http://schemas.openxmlformats.org/drawingml/2006/main">
            <a:off x="8210550" y="2305050"/>
            <a:ext cx="3190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32A3A"/>
                </a:solidFill>
                <a:latin typeface="Helvetica Neue"/>
                <a:ea typeface="Helvetica Neue"/>
                <a:cs typeface="Helvetica Neue"/>
              </a:defRPr>
            </a:defPPr>
            <a:lvl1pPr>
              <a:defRPr sz="1875" b="0">
                <a:solidFill>
                  <a:srgbClr val="132A3A"/>
                </a:solidFill>
                <a:latin typeface="Helvetica Neue"/>
                <a:ea typeface="Helvetica Neue"/>
                <a:cs typeface="Helvetica Neue"/>
              </a:defRPr>
            </a:lvl1pPr>
            <a:lvl2pPr>
              <a:defRPr sz="1875" b="0">
                <a:solidFill>
                  <a:srgbClr val="132A3A"/>
                </a:solidFill>
                <a:latin typeface="Helvetica Neue"/>
                <a:ea typeface="Helvetica Neue"/>
                <a:cs typeface="Helvetica Neue"/>
              </a:defRPr>
            </a:lvl2pPr>
            <a:lvl3pPr>
              <a:defRPr sz="1875" b="0">
                <a:solidFill>
                  <a:srgbClr val="132A3A"/>
                </a:solidFill>
                <a:latin typeface="Helvetica Neue"/>
                <a:ea typeface="Helvetica Neue"/>
                <a:cs typeface="Helvetica Neue"/>
              </a:defRPr>
            </a:lvl3pPr>
            <a:lvl4pPr>
              <a:defRPr sz="1875" b="0">
                <a:solidFill>
                  <a:srgbClr val="132A3A"/>
                </a:solidFill>
                <a:latin typeface="Helvetica Neue"/>
                <a:ea typeface="Helvetica Neue"/>
                <a:cs typeface="Helvetica Neue"/>
              </a:defRPr>
            </a:lvl4pPr>
            <a:lvl5pPr>
              <a:defRPr sz="1875" b="0">
                <a:solidFill>
                  <a:srgbClr val="132A3A"/>
                </a:solidFill>
                <a:latin typeface="Helvetica Neue"/>
                <a:ea typeface="Helvetica Neue"/>
                <a:cs typeface="Helvetica Neue"/>
              </a:defRPr>
            </a:lvl5pPr>
            <a:lvl6pPr>
              <a:defRPr sz="1875" b="0">
                <a:solidFill>
                  <a:srgbClr val="132A3A"/>
                </a:solidFill>
                <a:latin typeface="Helvetica Neue"/>
                <a:ea typeface="Helvetica Neue"/>
                <a:cs typeface="Helvetica Neue"/>
              </a:defRPr>
            </a:lvl6pPr>
            <a:lvl7pPr>
              <a:defRPr sz="1875" b="0">
                <a:solidFill>
                  <a:srgbClr val="132A3A"/>
                </a:solidFill>
                <a:latin typeface="Helvetica Neue"/>
                <a:ea typeface="Helvetica Neue"/>
                <a:cs typeface="Helvetica Neue"/>
              </a:defRPr>
            </a:lvl7pPr>
            <a:lvl8pPr>
              <a:defRPr sz="1875" b="0">
                <a:solidFill>
                  <a:srgbClr val="132A3A"/>
                </a:solidFill>
                <a:latin typeface="Helvetica Neue"/>
                <a:ea typeface="Helvetica Neue"/>
                <a:cs typeface="Helvetica Neue"/>
              </a:defRPr>
            </a:lvl8pPr>
            <a:lvl9pPr>
              <a:defRPr sz="1875" b="0">
                <a:solidFill>
                  <a:srgbClr val="132A3A"/>
                </a:solidFill>
                <a:latin typeface="Helvetica Neue"/>
                <a:ea typeface="Helvetica Neue"/>
                <a:cs typeface="Helvetica Neue"/>
              </a:defRPr>
            </a:lvl9pPr>
          </a:lstStyle>
          <a:p xmlns:a="http://schemas.openxmlformats.org/drawingml/2006/main">
            <a:pPr>
              <a:defRPr sz="1875" b="0">
                <a:solidFill>
                  <a:srgbClr val="132A3A"/>
                </a:solidFill>
                <a:latin typeface="Helvetica Neue"/>
                <a:ea typeface="Helvetica Neue"/>
                <a:cs typeface="Helvetica Neue"/>
              </a:defRPr>
            </a:pPr>
            <a:r>
              <a:rPr sz="1875" b="0">
                <a:solidFill>
                  <a:srgbClr val="132A3A"/>
                </a:solidFill>
                <a:latin typeface="Helvetica Neue"/>
                <a:ea typeface="Helvetica Neue"/>
                <a:cs typeface="Helvetica Neue"/>
              </a:rPr>
              <a:t>Smooth sine solution</a:t>
            </a:r>
          </a:p>
          <a:p xmlns:a="http://schemas.openxmlformats.org/drawingml/2006/main">
            <a:pPr>
              <a:defRPr sz="1875" b="0">
                <a:solidFill>
                  <a:srgbClr val="132A3A"/>
                </a:solidFill>
                <a:latin typeface="Helvetica Neue"/>
                <a:ea typeface="Helvetica Neue"/>
                <a:cs typeface="Helvetica Neue"/>
              </a:defRPr>
            </a:pPr>
            <a:r>
              <a:rPr sz="1875" b="0">
                <a:solidFill>
                  <a:srgbClr val="132A3A"/>
                </a:solidFill>
                <a:latin typeface="Helvetica Neue"/>
                <a:ea typeface="Helvetica Neue"/>
                <a:cs typeface="Helvetica Neue"/>
              </a:rPr>
              <a:t>Odd-sine cooling series</a:t>
            </a:r>
          </a:p>
          <a:p xmlns:a="http://schemas.openxmlformats.org/drawingml/2006/main">
            <a:r>
              <a:t/>
            </a:r>
          </a:p>
          <a:p xmlns:a="http://schemas.openxmlformats.org/drawingml/2006/main">
            <a:pPr>
              <a:defRPr sz="1875" b="0">
                <a:solidFill>
                  <a:srgbClr val="132A3A"/>
                </a:solidFill>
                <a:latin typeface="Helvetica Neue"/>
                <a:ea typeface="Helvetica Neue"/>
                <a:cs typeface="Helvetica Neue"/>
              </a:defRPr>
            </a:pPr>
            <a:r>
              <a:rPr sz="1875" b="0">
                <a:solidFill>
                  <a:srgbClr val="132A3A"/>
                </a:solidFill>
                <a:latin typeface="Helvetica Neue"/>
                <a:ea typeface="Helvetica Neue"/>
                <a:cs typeface="Helvetica Neue"/>
              </a:rPr>
              <a:t>Reference crossing</a:t>
            </a:r>
          </a:p>
          <a:p xmlns:a="http://schemas.openxmlformats.org/drawingml/2006/main">
            <a:pPr>
              <a:defRPr sz="1875" b="0">
                <a:solidFill>
                  <a:srgbClr val="132A3A"/>
                </a:solidFill>
                <a:latin typeface="Helvetica Neue"/>
                <a:ea typeface="Helvetica Neue"/>
                <a:cs typeface="Helvetica Neue"/>
              </a:defRPr>
            </a:pPr>
            <a:r>
              <a:rPr sz="1875" b="0">
                <a:solidFill>
                  <a:srgbClr val="132A3A"/>
                </a:solidFill>
                <a:latin typeface="Helvetica Neue"/>
                <a:ea typeface="Helvetica Neue"/>
                <a:cs typeface="Helvetica Neue"/>
              </a:rPr>
              <a:t>1.649365 s</a:t>
            </a:r>
          </a:p>
          <a:p xmlns:a="http://schemas.openxmlformats.org/drawingml/2006/main">
            <a:r>
              <a:t/>
            </a:r>
          </a:p>
          <a:p xmlns:a="http://schemas.openxmlformats.org/drawingml/2006/main">
            <a:pPr>
              <a:defRPr sz="1875" b="0">
                <a:solidFill>
                  <a:srgbClr val="132A3A"/>
                </a:solidFill>
                <a:latin typeface="Helvetica Neue"/>
                <a:ea typeface="Helvetica Neue"/>
                <a:cs typeface="Helvetica Neue"/>
              </a:defRPr>
            </a:pPr>
            <a:r>
              <a:rPr sz="1875" b="0">
                <a:solidFill>
                  <a:srgbClr val="132A3A"/>
                </a:solidFill>
                <a:latin typeface="Helvetica Neue"/>
                <a:ea typeface="Helvetica Neue"/>
                <a:cs typeface="Helvetica Neue"/>
              </a:rPr>
              <a:t>Spatial order ≈ 2</a:t>
            </a:r>
          </a:p>
          <a:p xmlns:a="http://schemas.openxmlformats.org/drawingml/2006/main">
            <a:pPr>
              <a:defRPr sz="1875" b="0">
                <a:solidFill>
                  <a:srgbClr val="132A3A"/>
                </a:solidFill>
                <a:latin typeface="Helvetica Neue"/>
                <a:ea typeface="Helvetica Neue"/>
                <a:cs typeface="Helvetica Neue"/>
              </a:defRPr>
            </a:pPr>
            <a:r>
              <a:rPr sz="1875" b="0">
                <a:solidFill>
                  <a:srgbClr val="132A3A"/>
                </a:solidFill>
                <a:latin typeface="Helvetica Neue"/>
                <a:ea typeface="Helvetica Neue"/>
                <a:cs typeface="Helvetica Neue"/>
              </a:rPr>
              <a:t>Time order ≈ 1</a:t>
            </a:r>
          </a:p>
        </p:txBody>
      </p:sp>
      <p:sp>
        <p:nvSpPr>
          <p:cNvPr id="5" name="">
            <a:extLst xmlns:a="http://schemas.openxmlformats.org/drawingml/2006/main">
              <a:ext uri="{FF2B5EF4-FFF2-40B4-BE49-F238E27FC236}">
                <a16:creationId xmlns:a16="http://schemas.microsoft.com/office/drawing/2014/main" id="{973F4EBB-7591-48EF-AFC3-9AD84EC842AE}"/>
              </a:ext>
            </a:extLst>
          </p:cNvPr>
          <p:cNvSpPr>
            <a:spLocks xmlns:a="http://schemas.openxmlformats.org/drawingml/2006/main" noGrp="1"/>
          </p:cNvSpPr>
          <p:nvPr/>
        </p:nvSpPr>
        <p:spPr>
          <a:xfrm xmlns:a="http://schemas.openxmlformats.org/drawingml/2006/main">
            <a:off x="609600" y="5743575"/>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49616E"/>
                </a:solidFill>
                <a:latin typeface="Helvetica Neue"/>
                <a:ea typeface="Helvetica Neue"/>
                <a:cs typeface="Helvetica Neue"/>
              </a:defRPr>
            </a:defPPr>
            <a:lvl1pPr>
              <a:defRPr sz="1725" b="0">
                <a:solidFill>
                  <a:srgbClr val="49616E"/>
                </a:solidFill>
                <a:latin typeface="Helvetica Neue"/>
                <a:ea typeface="Helvetica Neue"/>
                <a:cs typeface="Helvetica Neue"/>
              </a:defRPr>
            </a:lvl1pPr>
            <a:lvl2pPr>
              <a:defRPr sz="1725" b="0">
                <a:solidFill>
                  <a:srgbClr val="49616E"/>
                </a:solidFill>
                <a:latin typeface="Helvetica Neue"/>
                <a:ea typeface="Helvetica Neue"/>
                <a:cs typeface="Helvetica Neue"/>
              </a:defRPr>
            </a:lvl2pPr>
            <a:lvl3pPr>
              <a:defRPr sz="1725" b="0">
                <a:solidFill>
                  <a:srgbClr val="49616E"/>
                </a:solidFill>
                <a:latin typeface="Helvetica Neue"/>
                <a:ea typeface="Helvetica Neue"/>
                <a:cs typeface="Helvetica Neue"/>
              </a:defRPr>
            </a:lvl3pPr>
            <a:lvl4pPr>
              <a:defRPr sz="1725" b="0">
                <a:solidFill>
                  <a:srgbClr val="49616E"/>
                </a:solidFill>
                <a:latin typeface="Helvetica Neue"/>
                <a:ea typeface="Helvetica Neue"/>
                <a:cs typeface="Helvetica Neue"/>
              </a:defRPr>
            </a:lvl4pPr>
            <a:lvl5pPr>
              <a:defRPr sz="1725" b="0">
                <a:solidFill>
                  <a:srgbClr val="49616E"/>
                </a:solidFill>
                <a:latin typeface="Helvetica Neue"/>
                <a:ea typeface="Helvetica Neue"/>
                <a:cs typeface="Helvetica Neue"/>
              </a:defRPr>
            </a:lvl5pPr>
            <a:lvl6pPr>
              <a:defRPr sz="1725" b="0">
                <a:solidFill>
                  <a:srgbClr val="49616E"/>
                </a:solidFill>
                <a:latin typeface="Helvetica Neue"/>
                <a:ea typeface="Helvetica Neue"/>
                <a:cs typeface="Helvetica Neue"/>
              </a:defRPr>
            </a:lvl6pPr>
            <a:lvl7pPr>
              <a:defRPr sz="1725" b="0">
                <a:solidFill>
                  <a:srgbClr val="49616E"/>
                </a:solidFill>
                <a:latin typeface="Helvetica Neue"/>
                <a:ea typeface="Helvetica Neue"/>
                <a:cs typeface="Helvetica Neue"/>
              </a:defRPr>
            </a:lvl7pPr>
            <a:lvl8pPr>
              <a:defRPr sz="1725" b="0">
                <a:solidFill>
                  <a:srgbClr val="49616E"/>
                </a:solidFill>
                <a:latin typeface="Helvetica Neue"/>
                <a:ea typeface="Helvetica Neue"/>
                <a:cs typeface="Helvetica Neue"/>
              </a:defRPr>
            </a:lvl8pPr>
            <a:lvl9pPr>
              <a:defRPr sz="1725" b="0">
                <a:solidFill>
                  <a:srgbClr val="49616E"/>
                </a:solidFill>
                <a:latin typeface="Helvetica Neue"/>
                <a:ea typeface="Helvetica Neue"/>
                <a:cs typeface="Helvetica Neue"/>
              </a:defRPr>
            </a:lvl9pPr>
          </a:lstStyle>
          <a:p xmlns:a="http://schemas.openxmlformats.org/drawingml/2006/main">
            <a:pPr>
              <a:defRPr sz="1725" b="0">
                <a:solidFill>
                  <a:srgbClr val="49616E"/>
                </a:solidFill>
                <a:latin typeface="Helvetica Neue"/>
                <a:ea typeface="Helvetica Neue"/>
                <a:cs typeface="Helvetica Neue"/>
              </a:defRPr>
            </a:pPr>
            <a:r>
              <a:rPr sz="1725" b="0">
                <a:solidFill>
                  <a:srgbClr val="49616E"/>
                </a:solidFill>
                <a:latin typeface="Helvetica Neue"/>
                <a:ea typeface="Helvetica Neue"/>
                <a:cs typeface="Helvetica Neue"/>
              </a:rPr>
              <a:t>Smooth sine at t = 0.2 s. Fixed dt = 0.00001 s. Separate temporal check uses the exact semidiscrete mode.</a:t>
            </a:r>
          </a:p>
        </p:txBody>
      </p:sp>
    </p:spTree>
    <p:extLst>
      <p:ext uri="{BB962C8B-B14F-4D97-AF65-F5344CB8AC3E}">
        <p14:creationId xmlns:p14="http://schemas.microsoft.com/office/powerpoint/2010/main" val="153730077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C34E679-B1C2-4F6F-87FD-DBBCA7FCF2A7}"/>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32A3A"/>
                </a:solidFill>
                <a:latin typeface="Helvetica Neue"/>
                <a:ea typeface="Helvetica Neue"/>
                <a:cs typeface="Helvetica Neue"/>
              </a:defRPr>
            </a:defPPr>
            <a:lvl1pPr>
              <a:defRPr sz="3300" b="1">
                <a:solidFill>
                  <a:srgbClr val="132A3A"/>
                </a:solidFill>
                <a:latin typeface="Helvetica Neue"/>
                <a:ea typeface="Helvetica Neue"/>
                <a:cs typeface="Helvetica Neue"/>
              </a:defRPr>
            </a:lvl1pPr>
            <a:lvl2pPr>
              <a:defRPr sz="3300" b="1">
                <a:solidFill>
                  <a:srgbClr val="132A3A"/>
                </a:solidFill>
                <a:latin typeface="Helvetica Neue"/>
                <a:ea typeface="Helvetica Neue"/>
                <a:cs typeface="Helvetica Neue"/>
              </a:defRPr>
            </a:lvl2pPr>
            <a:lvl3pPr>
              <a:defRPr sz="3300" b="1">
                <a:solidFill>
                  <a:srgbClr val="132A3A"/>
                </a:solidFill>
                <a:latin typeface="Helvetica Neue"/>
                <a:ea typeface="Helvetica Neue"/>
                <a:cs typeface="Helvetica Neue"/>
              </a:defRPr>
            </a:lvl3pPr>
            <a:lvl4pPr>
              <a:defRPr sz="3300" b="1">
                <a:solidFill>
                  <a:srgbClr val="132A3A"/>
                </a:solidFill>
                <a:latin typeface="Helvetica Neue"/>
                <a:ea typeface="Helvetica Neue"/>
                <a:cs typeface="Helvetica Neue"/>
              </a:defRPr>
            </a:lvl4pPr>
            <a:lvl5pPr>
              <a:defRPr sz="3300" b="1">
                <a:solidFill>
                  <a:srgbClr val="132A3A"/>
                </a:solidFill>
                <a:latin typeface="Helvetica Neue"/>
                <a:ea typeface="Helvetica Neue"/>
                <a:cs typeface="Helvetica Neue"/>
              </a:defRPr>
            </a:lvl5pPr>
            <a:lvl6pPr>
              <a:defRPr sz="3300" b="1">
                <a:solidFill>
                  <a:srgbClr val="132A3A"/>
                </a:solidFill>
                <a:latin typeface="Helvetica Neue"/>
                <a:ea typeface="Helvetica Neue"/>
                <a:cs typeface="Helvetica Neue"/>
              </a:defRPr>
            </a:lvl6pPr>
            <a:lvl7pPr>
              <a:defRPr sz="3300" b="1">
                <a:solidFill>
                  <a:srgbClr val="132A3A"/>
                </a:solidFill>
                <a:latin typeface="Helvetica Neue"/>
                <a:ea typeface="Helvetica Neue"/>
                <a:cs typeface="Helvetica Neue"/>
              </a:defRPr>
            </a:lvl7pPr>
            <a:lvl8pPr>
              <a:defRPr sz="3300" b="1">
                <a:solidFill>
                  <a:srgbClr val="132A3A"/>
                </a:solidFill>
                <a:latin typeface="Helvetica Neue"/>
                <a:ea typeface="Helvetica Neue"/>
                <a:cs typeface="Helvetica Neue"/>
              </a:defRPr>
            </a:lvl8pPr>
            <a:lvl9pPr>
              <a:defRPr sz="3300" b="1">
                <a:solidFill>
                  <a:srgbClr val="132A3A"/>
                </a:solidFill>
                <a:latin typeface="Helvetica Neue"/>
                <a:ea typeface="Helvetica Neue"/>
                <a:cs typeface="Helvetica Neue"/>
              </a:defRPr>
            </a:lvl9pPr>
          </a:lstStyle>
          <a:p xmlns:a="http://schemas.openxmlformats.org/drawingml/2006/main">
            <a:pPr>
              <a:defRPr sz="3300" b="1">
                <a:solidFill>
                  <a:srgbClr val="132A3A"/>
                </a:solidFill>
                <a:latin typeface="Helvetica Neue"/>
                <a:ea typeface="Helvetica Neue"/>
                <a:cs typeface="Helvetica Neue"/>
              </a:defRPr>
            </a:pPr>
            <a:r>
              <a:rPr sz="3300" b="1">
                <a:solidFill>
                  <a:srgbClr val="132A3A"/>
                </a:solidFill>
                <a:latin typeface="Helvetica Neue"/>
                <a:ea typeface="Helvetica Neue"/>
                <a:cs typeface="Helvetica Neue"/>
              </a:rPr>
              <a:t>Method selection from measured evidence</a:t>
            </a:r>
          </a:p>
        </p:txBody>
      </p:sp>
      <p:graphicFrame>
        <p:nvGraphicFramePr>
          <p:cNvPr id="2" name="">
            <a:extLst xmlns:a="http://schemas.openxmlformats.org/drawingml/2006/main">
              <a:ext uri="{FF2B5EF4-FFF2-40B4-BE49-F238E27FC236}">
                <a16:creationId xmlns:a16="http://schemas.microsoft.com/office/drawing/2014/main" id="{1FDF79F3-B78B-4586-8E7D-8829D4F98A71}"/>
              </a:ext>
            </a:extLst>
          </p:cNvPr>
          <p:cNvGraphicFramePr/>
          <p:nvPr/>
        </p:nvGraphicFramePr>
        <p:xfrm>
          <a:off xmlns:a="http://schemas.openxmlformats.org/drawingml/2006/main" x="609600" y="1504950"/>
          <a:ext xmlns:a="http://schemas.openxmlformats.org/drawingml/2006/main" cx="10972800" cy="2076450"/>
        </p:xfrm>
        <a:graphic xmlns:a="http://schemas.openxmlformats.org/drawingml/2006/main">
          <a:graphicData uri="http://schemas.openxmlformats.org/drawingml/2006/table">
            <a:tbl>
              <a:tblPr firstRow="1" bandRow="0"/>
              <a:tblGrid>
                <a:gridCol w="2305050"/>
                <a:gridCol w="1047750"/>
                <a:gridCol w="1476375"/>
                <a:gridCol w="1857375"/>
                <a:gridCol w="2095500"/>
                <a:gridCol w="2190750"/>
              </a:tblGrid>
              <a:tr h="692150">
                <a:tc>
                  <a:txBody>
                    <a:bodyPr/>
                    <a:lstStyle/>
                    <a:p>
                      <a:r>
                        <a:rPr sz="1725" b="1">
                          <a:solidFill>
                            <a:srgbClr val="FFFFFF"/>
                          </a:solidFill>
                          <a:latin typeface="Helvetica Neue"/>
                          <a:ea typeface="Helvetica Neue"/>
                          <a:cs typeface="Helvetica Neue"/>
                        </a:rPr>
                        <a:t>Method</a:t>
                      </a:r>
                    </a:p>
                  </a:txBody>
                  <a:tcPr marL="91440" marR="91440" marT="45720" marB="45720">
                    <a:lnL w="9525">
                      <a:solidFill>
                        <a:srgbClr val="D7E1E6"/>
                      </a:solidFill>
                    </a:lnL>
                    <a:lnR w="9525">
                      <a:solidFill>
                        <a:srgbClr val="D7E1E6"/>
                      </a:solidFill>
                    </a:lnR>
                    <a:lnT w="9525">
                      <a:solidFill>
                        <a:srgbClr val="D7E1E6"/>
                      </a:solidFill>
                    </a:lnT>
                    <a:lnB w="9525">
                      <a:solidFill>
                        <a:srgbClr val="D7E1E6"/>
                      </a:solidFill>
                    </a:lnB>
                    <a:solidFill>
                      <a:srgbClr val="132A3A"/>
                    </a:solidFill>
                  </a:tcPr>
                </a:tc>
                <a:tc>
                  <a:txBody>
                    <a:bodyPr/>
                    <a:lstStyle/>
                    <a:p>
                      <a:r>
                        <a:rPr sz="1725" b="1">
                          <a:solidFill>
                            <a:srgbClr val="FFFFFF"/>
                          </a:solidFill>
                          <a:latin typeface="Helvetica Neue"/>
                          <a:ea typeface="Helvetica Neue"/>
                          <a:cs typeface="Helvetica Neue"/>
                        </a:rPr>
                        <a:t>N</a:t>
                      </a:r>
                    </a:p>
                  </a:txBody>
                  <a:tcPr marL="91440" marR="91440" marT="45720" marB="45720">
                    <a:lnR w="9525">
                      <a:solidFill>
                        <a:srgbClr val="D7E1E6"/>
                      </a:solidFill>
                    </a:lnR>
                    <a:lnT w="9525">
                      <a:solidFill>
                        <a:srgbClr val="D7E1E6"/>
                      </a:solidFill>
                    </a:lnT>
                    <a:lnB w="9525">
                      <a:solidFill>
                        <a:srgbClr val="D7E1E6"/>
                      </a:solidFill>
                    </a:lnB>
                    <a:solidFill>
                      <a:srgbClr val="132A3A"/>
                    </a:solidFill>
                  </a:tcPr>
                </a:tc>
                <a:tc>
                  <a:txBody>
                    <a:bodyPr/>
                    <a:lstStyle/>
                    <a:p>
                      <a:r>
                        <a:rPr sz="1725" b="1">
                          <a:solidFill>
                            <a:srgbClr val="FFFFFF"/>
                          </a:solidFill>
                          <a:latin typeface="Helvetica Neue"/>
                          <a:ea typeface="Helvetica Neue"/>
                          <a:cs typeface="Helvetica Neue"/>
                        </a:rPr>
                        <a:t>dt (s)</a:t>
                      </a:r>
                    </a:p>
                  </a:txBody>
                  <a:tcPr marL="91440" marR="91440" marT="45720" marB="45720">
                    <a:lnR w="9525">
                      <a:solidFill>
                        <a:srgbClr val="D7E1E6"/>
                      </a:solidFill>
                    </a:lnR>
                    <a:lnT w="9525">
                      <a:solidFill>
                        <a:srgbClr val="D7E1E6"/>
                      </a:solidFill>
                    </a:lnT>
                    <a:lnB w="9525">
                      <a:solidFill>
                        <a:srgbClr val="D7E1E6"/>
                      </a:solidFill>
                    </a:lnB>
                    <a:solidFill>
                      <a:srgbClr val="132A3A"/>
                    </a:solidFill>
                  </a:tcPr>
                </a:tc>
                <a:tc>
                  <a:txBody>
                    <a:bodyPr/>
                    <a:lstStyle/>
                    <a:p>
                      <a:r>
                        <a:rPr sz="1725" b="1">
                          <a:solidFill>
                            <a:srgbClr val="FFFFFF"/>
                          </a:solidFill>
                          <a:latin typeface="Helvetica Neue"/>
                          <a:ea typeface="Helvetica Neue"/>
                          <a:cs typeface="Helvetica Neue"/>
                        </a:rPr>
                        <a:t>Max error (°C)</a:t>
                      </a:r>
                    </a:p>
                  </a:txBody>
                  <a:tcPr marL="91440" marR="91440" marT="45720" marB="45720">
                    <a:lnR w="9525">
                      <a:solidFill>
                        <a:srgbClr val="D7E1E6"/>
                      </a:solidFill>
                    </a:lnR>
                    <a:lnT w="9525">
                      <a:solidFill>
                        <a:srgbClr val="D7E1E6"/>
                      </a:solidFill>
                    </a:lnT>
                    <a:lnB w="9525">
                      <a:solidFill>
                        <a:srgbClr val="D7E1E6"/>
                      </a:solidFill>
                    </a:lnB>
                    <a:solidFill>
                      <a:srgbClr val="132A3A"/>
                    </a:solidFill>
                  </a:tcPr>
                </a:tc>
                <a:tc>
                  <a:txBody>
                    <a:bodyPr/>
                    <a:lstStyle/>
                    <a:p>
                      <a:r>
                        <a:rPr sz="1725" b="1">
                          <a:solidFill>
                            <a:srgbClr val="FFFFFF"/>
                          </a:solidFill>
                          <a:latin typeface="Helvetica Neue"/>
                          <a:ea typeface="Helvetica Neue"/>
                          <a:cs typeface="Helvetica Neue"/>
                        </a:rPr>
                        <a:t>Crossing error (%)</a:t>
                      </a:r>
                    </a:p>
                  </a:txBody>
                  <a:tcPr marL="91440" marR="91440" marT="45720" marB="45720">
                    <a:lnR w="9525">
                      <a:solidFill>
                        <a:srgbClr val="D7E1E6"/>
                      </a:solidFill>
                    </a:lnR>
                    <a:lnT w="9525">
                      <a:solidFill>
                        <a:srgbClr val="D7E1E6"/>
                      </a:solidFill>
                    </a:lnT>
                    <a:lnB w="9525">
                      <a:solidFill>
                        <a:srgbClr val="D7E1E6"/>
                      </a:solidFill>
                    </a:lnB>
                    <a:solidFill>
                      <a:srgbClr val="132A3A"/>
                    </a:solidFill>
                  </a:tcPr>
                </a:tc>
                <a:tc>
                  <a:txBody>
                    <a:bodyPr/>
                    <a:lstStyle/>
                    <a:p>
                      <a:r>
                        <a:rPr sz="1725" b="1">
                          <a:solidFill>
                            <a:srgbClr val="FFFFFF"/>
                          </a:solidFill>
                          <a:latin typeface="Helvetica Neue"/>
                          <a:ea typeface="Helvetica Neue"/>
                          <a:cs typeface="Helvetica Neue"/>
                        </a:rPr>
                        <a:t>Median (ms)</a:t>
                      </a:r>
                    </a:p>
                  </a:txBody>
                  <a:tcPr marL="91440" marR="91440" marT="45720" marB="45720">
                    <a:lnR w="9525">
                      <a:solidFill>
                        <a:srgbClr val="D7E1E6"/>
                      </a:solidFill>
                    </a:lnR>
                    <a:lnT w="9525">
                      <a:solidFill>
                        <a:srgbClr val="D7E1E6"/>
                      </a:solidFill>
                    </a:lnT>
                    <a:lnB w="9525">
                      <a:solidFill>
                        <a:srgbClr val="D7E1E6"/>
                      </a:solidFill>
                    </a:lnB>
                    <a:solidFill>
                      <a:srgbClr val="132A3A"/>
                    </a:solidFill>
                  </a:tcPr>
                </a:tc>
              </a:tr>
              <a:tr h="692150">
                <a:tc>
                  <a:txBody>
                    <a:bodyPr/>
                    <a:lstStyle/>
                    <a:p>
                      <a:r>
                        <a:rPr sz="1725" b="0">
                          <a:solidFill>
                            <a:srgbClr val="132A3A"/>
                          </a:solidFill>
                          <a:latin typeface="Helvetica Neue"/>
                          <a:ea typeface="Helvetica Neue"/>
                          <a:cs typeface="Helvetica Neue"/>
                        </a:rPr>
                        <a:t>FTCS</a:t>
                      </a:r>
                    </a:p>
                  </a:txBody>
                  <a:tcPr marL="91440" marR="91440" marT="45720" marB="45720">
                    <a:lnL w="9525">
                      <a:solidFill>
                        <a:srgbClr val="D7E1E6"/>
                      </a:solidFill>
                    </a:lnL>
                    <a:lnR w="9525">
                      <a:solidFill>
                        <a:srgbClr val="D7E1E6"/>
                      </a:solidFill>
                    </a:lnR>
                    <a:lnB w="9525">
                      <a:solidFill>
                        <a:srgbClr val="D7E1E6"/>
                      </a:solidFill>
                    </a:lnB>
                    <a:solidFill>
                      <a:srgbClr val="FFFFFF"/>
                    </a:solidFill>
                  </a:tcPr>
                </a:tc>
                <a:tc>
                  <a:txBody>
                    <a:bodyPr/>
                    <a:lstStyle/>
                    <a:p>
                      <a:r>
                        <a:rPr sz="1725" b="0">
                          <a:solidFill>
                            <a:srgbClr val="132A3A"/>
                          </a:solidFill>
                          <a:latin typeface="Helvetica Neue"/>
                          <a:ea typeface="Helvetica Neue"/>
                          <a:cs typeface="Helvetica Neue"/>
                        </a:rPr>
                        <a:t>20</a:t>
                      </a:r>
                    </a:p>
                  </a:txBody>
                  <a:tcPr marL="91440" marR="91440" marT="45720" marB="45720">
                    <a:lnR w="9525">
                      <a:solidFill>
                        <a:srgbClr val="D7E1E6"/>
                      </a:solidFill>
                    </a:lnR>
                    <a:lnB w="9525">
                      <a:solidFill>
                        <a:srgbClr val="D7E1E6"/>
                      </a:solidFill>
                    </a:lnB>
                    <a:solidFill>
                      <a:srgbClr val="FFFFFF"/>
                    </a:solidFill>
                  </a:tcPr>
                </a:tc>
                <a:tc>
                  <a:txBody>
                    <a:bodyPr/>
                    <a:lstStyle/>
                    <a:p>
                      <a:r>
                        <a:rPr sz="1725" b="0">
                          <a:solidFill>
                            <a:srgbClr val="132A3A"/>
                          </a:solidFill>
                          <a:latin typeface="Helvetica Neue"/>
                          <a:ea typeface="Helvetica Neue"/>
                          <a:cs typeface="Helvetica Neue"/>
                        </a:rPr>
                        <a:t>0.00625</a:t>
                      </a:r>
                    </a:p>
                  </a:txBody>
                  <a:tcPr marL="91440" marR="91440" marT="45720" marB="45720">
                    <a:lnR w="9525">
                      <a:solidFill>
                        <a:srgbClr val="D7E1E6"/>
                      </a:solidFill>
                    </a:lnR>
                    <a:lnB w="9525">
                      <a:solidFill>
                        <a:srgbClr val="D7E1E6"/>
                      </a:solidFill>
                    </a:lnB>
                    <a:solidFill>
                      <a:srgbClr val="FFFFFF"/>
                    </a:solidFill>
                  </a:tcPr>
                </a:tc>
                <a:tc>
                  <a:txBody>
                    <a:bodyPr/>
                    <a:lstStyle/>
                    <a:p>
                      <a:r>
                        <a:rPr sz="1725" b="0">
                          <a:solidFill>
                            <a:srgbClr val="132A3A"/>
                          </a:solidFill>
                          <a:latin typeface="Helvetica Neue"/>
                          <a:ea typeface="Helvetica Neue"/>
                          <a:cs typeface="Helvetica Neue"/>
                        </a:rPr>
                        <a:t>0.589</a:t>
                      </a:r>
                    </a:p>
                  </a:txBody>
                  <a:tcPr marL="91440" marR="91440" marT="45720" marB="45720">
                    <a:lnR w="9525">
                      <a:solidFill>
                        <a:srgbClr val="D7E1E6"/>
                      </a:solidFill>
                    </a:lnR>
                    <a:lnB w="9525">
                      <a:solidFill>
                        <a:srgbClr val="D7E1E6"/>
                      </a:solidFill>
                    </a:lnB>
                    <a:solidFill>
                      <a:srgbClr val="FFFFFF"/>
                    </a:solidFill>
                  </a:tcPr>
                </a:tc>
                <a:tc>
                  <a:txBody>
                    <a:bodyPr/>
                    <a:lstStyle/>
                    <a:p>
                      <a:r>
                        <a:rPr sz="1725" b="0">
                          <a:solidFill>
                            <a:srgbClr val="132A3A"/>
                          </a:solidFill>
                          <a:latin typeface="Helvetica Neue"/>
                          <a:ea typeface="Helvetica Neue"/>
                          <a:cs typeface="Helvetica Neue"/>
                        </a:rPr>
                        <a:t>0.229</a:t>
                      </a:r>
                    </a:p>
                  </a:txBody>
                  <a:tcPr marL="91440" marR="91440" marT="45720" marB="45720">
                    <a:lnR w="9525">
                      <a:solidFill>
                        <a:srgbClr val="D7E1E6"/>
                      </a:solidFill>
                    </a:lnR>
                    <a:lnB w="9525">
                      <a:solidFill>
                        <a:srgbClr val="D7E1E6"/>
                      </a:solidFill>
                    </a:lnB>
                    <a:solidFill>
                      <a:srgbClr val="FFFFFF"/>
                    </a:solidFill>
                  </a:tcPr>
                </a:tc>
                <a:tc>
                  <a:txBody>
                    <a:bodyPr/>
                    <a:lstStyle/>
                    <a:p>
                      <a:r>
                        <a:rPr sz="1725" b="0">
                          <a:solidFill>
                            <a:srgbClr val="132A3A"/>
                          </a:solidFill>
                          <a:latin typeface="Helvetica Neue"/>
                          <a:ea typeface="Helvetica Neue"/>
                          <a:cs typeface="Helvetica Neue"/>
                        </a:rPr>
                        <a:t>2.873</a:t>
                      </a:r>
                    </a:p>
                  </a:txBody>
                  <a:tcPr marL="91440" marR="91440" marT="45720" marB="45720">
                    <a:lnR w="9525">
                      <a:solidFill>
                        <a:srgbClr val="D7E1E6"/>
                      </a:solidFill>
                    </a:lnR>
                    <a:lnB w="9525">
                      <a:solidFill>
                        <a:srgbClr val="D7E1E6"/>
                      </a:solidFill>
                    </a:lnB>
                    <a:solidFill>
                      <a:srgbClr val="FFFFFF"/>
                    </a:solidFill>
                  </a:tcPr>
                </a:tc>
              </a:tr>
              <a:tr h="692150">
                <a:tc>
                  <a:txBody>
                    <a:bodyPr/>
                    <a:lstStyle/>
                    <a:p>
                      <a:r>
                        <a:rPr sz="1725" b="0">
                          <a:solidFill>
                            <a:srgbClr val="132A3A"/>
                          </a:solidFill>
                          <a:latin typeface="Helvetica Neue"/>
                          <a:ea typeface="Helvetica Neue"/>
                          <a:cs typeface="Helvetica Neue"/>
                        </a:rPr>
                        <a:t>Backward Euler</a:t>
                      </a:r>
                    </a:p>
                  </a:txBody>
                  <a:tcPr marL="91440" marR="91440" marT="45720" marB="45720">
                    <a:lnL w="9525">
                      <a:solidFill>
                        <a:srgbClr val="D7E1E6"/>
                      </a:solidFill>
                    </a:lnL>
                    <a:lnR w="9525">
                      <a:solidFill>
                        <a:srgbClr val="D7E1E6"/>
                      </a:solidFill>
                    </a:lnR>
                    <a:lnB w="9525">
                      <a:solidFill>
                        <a:srgbClr val="D7E1E6"/>
                      </a:solidFill>
                    </a:lnB>
                    <a:solidFill>
                      <a:srgbClr val="FFFFFF"/>
                    </a:solidFill>
                  </a:tcPr>
                </a:tc>
                <a:tc>
                  <a:txBody>
                    <a:bodyPr/>
                    <a:lstStyle/>
                    <a:p>
                      <a:r>
                        <a:rPr sz="1725" b="0">
                          <a:solidFill>
                            <a:srgbClr val="132A3A"/>
                          </a:solidFill>
                          <a:latin typeface="Helvetica Neue"/>
                          <a:ea typeface="Helvetica Neue"/>
                          <a:cs typeface="Helvetica Neue"/>
                        </a:rPr>
                        <a:t>40</a:t>
                      </a:r>
                    </a:p>
                  </a:txBody>
                  <a:tcPr marL="91440" marR="91440" marT="45720" marB="45720">
                    <a:lnR w="9525">
                      <a:solidFill>
                        <a:srgbClr val="D7E1E6"/>
                      </a:solidFill>
                    </a:lnR>
                    <a:lnB w="9525">
                      <a:solidFill>
                        <a:srgbClr val="D7E1E6"/>
                      </a:solidFill>
                    </a:lnB>
                    <a:solidFill>
                      <a:srgbClr val="FFFFFF"/>
                    </a:solidFill>
                  </a:tcPr>
                </a:tc>
                <a:tc>
                  <a:txBody>
                    <a:bodyPr/>
                    <a:lstStyle/>
                    <a:p>
                      <a:r>
                        <a:rPr sz="1725" b="0">
                          <a:solidFill>
                            <a:srgbClr val="132A3A"/>
                          </a:solidFill>
                          <a:latin typeface="Helvetica Neue"/>
                          <a:ea typeface="Helvetica Neue"/>
                          <a:cs typeface="Helvetica Neue"/>
                        </a:rPr>
                        <a:t>0.00625</a:t>
                      </a:r>
                    </a:p>
                  </a:txBody>
                  <a:tcPr marL="91440" marR="91440" marT="45720" marB="45720">
                    <a:lnR w="9525">
                      <a:solidFill>
                        <a:srgbClr val="D7E1E6"/>
                      </a:solidFill>
                    </a:lnR>
                    <a:lnB w="9525">
                      <a:solidFill>
                        <a:srgbClr val="D7E1E6"/>
                      </a:solidFill>
                    </a:lnB>
                    <a:solidFill>
                      <a:srgbClr val="FFFFFF"/>
                    </a:solidFill>
                  </a:tcPr>
                </a:tc>
                <a:tc>
                  <a:txBody>
                    <a:bodyPr/>
                    <a:lstStyle/>
                    <a:p>
                      <a:r>
                        <a:rPr sz="1725" b="0">
                          <a:solidFill>
                            <a:srgbClr val="132A3A"/>
                          </a:solidFill>
                          <a:latin typeface="Helvetica Neue"/>
                          <a:ea typeface="Helvetica Neue"/>
                          <a:cs typeface="Helvetica Neue"/>
                        </a:rPr>
                        <a:t>0.709</a:t>
                      </a:r>
                    </a:p>
                  </a:txBody>
                  <a:tcPr marL="91440" marR="91440" marT="45720" marB="45720">
                    <a:lnR w="9525">
                      <a:solidFill>
                        <a:srgbClr val="D7E1E6"/>
                      </a:solidFill>
                    </a:lnR>
                    <a:lnB w="9525">
                      <a:solidFill>
                        <a:srgbClr val="D7E1E6"/>
                      </a:solidFill>
                    </a:lnB>
                    <a:solidFill>
                      <a:srgbClr val="FFFFFF"/>
                    </a:solidFill>
                  </a:tcPr>
                </a:tc>
                <a:tc>
                  <a:txBody>
                    <a:bodyPr/>
                    <a:lstStyle/>
                    <a:p>
                      <a:r>
                        <a:rPr sz="1725" b="0">
                          <a:solidFill>
                            <a:srgbClr val="132A3A"/>
                          </a:solidFill>
                          <a:latin typeface="Helvetica Neue"/>
                          <a:ea typeface="Helvetica Neue"/>
                          <a:cs typeface="Helvetica Neue"/>
                        </a:rPr>
                        <a:t>0.328</a:t>
                      </a:r>
                    </a:p>
                  </a:txBody>
                  <a:tcPr marL="91440" marR="91440" marT="45720" marB="45720">
                    <a:lnR w="9525">
                      <a:solidFill>
                        <a:srgbClr val="D7E1E6"/>
                      </a:solidFill>
                    </a:lnR>
                    <a:lnB w="9525">
                      <a:solidFill>
                        <a:srgbClr val="D7E1E6"/>
                      </a:solidFill>
                    </a:lnB>
                    <a:solidFill>
                      <a:srgbClr val="FFFFFF"/>
                    </a:solidFill>
                  </a:tcPr>
                </a:tc>
                <a:tc>
                  <a:txBody>
                    <a:bodyPr/>
                    <a:lstStyle/>
                    <a:p>
                      <a:r>
                        <a:rPr sz="1725" b="0">
                          <a:solidFill>
                            <a:srgbClr val="132A3A"/>
                          </a:solidFill>
                          <a:latin typeface="Helvetica Neue"/>
                          <a:ea typeface="Helvetica Neue"/>
                          <a:cs typeface="Helvetica Neue"/>
                        </a:rPr>
                        <a:t>6.494</a:t>
                      </a:r>
                    </a:p>
                  </a:txBody>
                  <a:tcPr marL="91440" marR="91440" marT="45720" marB="45720">
                    <a:lnR w="9525">
                      <a:solidFill>
                        <a:srgbClr val="D7E1E6"/>
                      </a:solidFill>
                    </a:lnR>
                    <a:lnB w="9525">
                      <a:solidFill>
                        <a:srgbClr val="D7E1E6"/>
                      </a:solidFill>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161531A4-B9E2-4672-8971-3EABBF6C20C2}"/>
              </a:ext>
            </a:extLst>
          </p:cNvPr>
          <p:cNvSpPr>
            <a:spLocks xmlns:a="http://schemas.openxmlformats.org/drawingml/2006/main" noGrp="1"/>
          </p:cNvSpPr>
          <p:nvPr/>
        </p:nvSpPr>
        <p:spPr>
          <a:xfrm xmlns:a="http://schemas.openxmlformats.org/drawingml/2006/main">
            <a:off x="609600" y="4019550"/>
            <a:ext cx="10906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007F87"/>
                </a:solidFill>
                <a:latin typeface="Helvetica Neue"/>
                <a:ea typeface="Helvetica Neue"/>
                <a:cs typeface="Helvetica Neue"/>
              </a:defRPr>
            </a:defPPr>
            <a:lvl1pPr>
              <a:defRPr sz="2550" b="1">
                <a:solidFill>
                  <a:srgbClr val="007F87"/>
                </a:solidFill>
                <a:latin typeface="Helvetica Neue"/>
                <a:ea typeface="Helvetica Neue"/>
                <a:cs typeface="Helvetica Neue"/>
              </a:defRPr>
            </a:lvl1pPr>
            <a:lvl2pPr>
              <a:defRPr sz="2550" b="1">
                <a:solidFill>
                  <a:srgbClr val="007F87"/>
                </a:solidFill>
                <a:latin typeface="Helvetica Neue"/>
                <a:ea typeface="Helvetica Neue"/>
                <a:cs typeface="Helvetica Neue"/>
              </a:defRPr>
            </a:lvl2pPr>
            <a:lvl3pPr>
              <a:defRPr sz="2550" b="1">
                <a:solidFill>
                  <a:srgbClr val="007F87"/>
                </a:solidFill>
                <a:latin typeface="Helvetica Neue"/>
                <a:ea typeface="Helvetica Neue"/>
                <a:cs typeface="Helvetica Neue"/>
              </a:defRPr>
            </a:lvl3pPr>
            <a:lvl4pPr>
              <a:defRPr sz="2550" b="1">
                <a:solidFill>
                  <a:srgbClr val="007F87"/>
                </a:solidFill>
                <a:latin typeface="Helvetica Neue"/>
                <a:ea typeface="Helvetica Neue"/>
                <a:cs typeface="Helvetica Neue"/>
              </a:defRPr>
            </a:lvl4pPr>
            <a:lvl5pPr>
              <a:defRPr sz="2550" b="1">
                <a:solidFill>
                  <a:srgbClr val="007F87"/>
                </a:solidFill>
                <a:latin typeface="Helvetica Neue"/>
                <a:ea typeface="Helvetica Neue"/>
                <a:cs typeface="Helvetica Neue"/>
              </a:defRPr>
            </a:lvl5pPr>
            <a:lvl6pPr>
              <a:defRPr sz="2550" b="1">
                <a:solidFill>
                  <a:srgbClr val="007F87"/>
                </a:solidFill>
                <a:latin typeface="Helvetica Neue"/>
                <a:ea typeface="Helvetica Neue"/>
                <a:cs typeface="Helvetica Neue"/>
              </a:defRPr>
            </a:lvl6pPr>
            <a:lvl7pPr>
              <a:defRPr sz="2550" b="1">
                <a:solidFill>
                  <a:srgbClr val="007F87"/>
                </a:solidFill>
                <a:latin typeface="Helvetica Neue"/>
                <a:ea typeface="Helvetica Neue"/>
                <a:cs typeface="Helvetica Neue"/>
              </a:defRPr>
            </a:lvl7pPr>
            <a:lvl8pPr>
              <a:defRPr sz="2550" b="1">
                <a:solidFill>
                  <a:srgbClr val="007F87"/>
                </a:solidFill>
                <a:latin typeface="Helvetica Neue"/>
                <a:ea typeface="Helvetica Neue"/>
                <a:cs typeface="Helvetica Neue"/>
              </a:defRPr>
            </a:lvl8pPr>
            <a:lvl9pPr>
              <a:defRPr sz="2550" b="1">
                <a:solidFill>
                  <a:srgbClr val="007F87"/>
                </a:solidFill>
                <a:latin typeface="Helvetica Neue"/>
                <a:ea typeface="Helvetica Neue"/>
                <a:cs typeface="Helvetica Neue"/>
              </a:defRPr>
            </a:lvl9pPr>
          </a:lstStyle>
          <a:p xmlns:a="http://schemas.openxmlformats.org/drawingml/2006/main">
            <a:pPr>
              <a:defRPr sz="2550" b="1">
                <a:solidFill>
                  <a:srgbClr val="007F87"/>
                </a:solidFill>
                <a:latin typeface="Helvetica Neue"/>
                <a:ea typeface="Helvetica Neue"/>
                <a:cs typeface="Helvetica Neue"/>
              </a:defRPr>
            </a:pPr>
            <a:r>
              <a:rPr sz="2550" b="1">
                <a:solidFill>
                  <a:srgbClr val="007F87"/>
                </a:solidFill>
                <a:latin typeface="Helvetica Neue"/>
                <a:ea typeface="Helvetica Neue"/>
                <a:cs typeface="Helvetica Neue"/>
              </a:rPr>
              <a:t>Selected: FTCS, N = 20, dt = 0.00625 s</a:t>
            </a:r>
          </a:p>
        </p:txBody>
      </p:sp>
      <p:sp>
        <p:nvSpPr>
          <p:cNvPr id="4" name="">
            <a:extLst xmlns:a="http://schemas.openxmlformats.org/drawingml/2006/main">
              <a:ext uri="{FF2B5EF4-FFF2-40B4-BE49-F238E27FC236}">
                <a16:creationId xmlns:a16="http://schemas.microsoft.com/office/drawing/2014/main" id="{A742A8FA-FA2E-40A6-B3DC-85242F2AC285}"/>
              </a:ext>
            </a:extLst>
          </p:cNvPr>
          <p:cNvSpPr>
            <a:spLocks xmlns:a="http://schemas.openxmlformats.org/drawingml/2006/main" noGrp="1"/>
          </p:cNvSpPr>
          <p:nvPr/>
        </p:nvSpPr>
        <p:spPr>
          <a:xfrm xmlns:a="http://schemas.openxmlformats.org/drawingml/2006/main">
            <a:off x="609600" y="48196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32A3A"/>
                </a:solidFill>
                <a:latin typeface="Helvetica Neue"/>
                <a:ea typeface="Helvetica Neue"/>
                <a:cs typeface="Helvetica Neue"/>
              </a:defRPr>
            </a:defPPr>
            <a:lvl1pPr>
              <a:defRPr sz="1950" b="0">
                <a:solidFill>
                  <a:srgbClr val="132A3A"/>
                </a:solidFill>
                <a:latin typeface="Helvetica Neue"/>
                <a:ea typeface="Helvetica Neue"/>
                <a:cs typeface="Helvetica Neue"/>
              </a:defRPr>
            </a:lvl1pPr>
            <a:lvl2pPr>
              <a:defRPr sz="1950" b="0">
                <a:solidFill>
                  <a:srgbClr val="132A3A"/>
                </a:solidFill>
                <a:latin typeface="Helvetica Neue"/>
                <a:ea typeface="Helvetica Neue"/>
                <a:cs typeface="Helvetica Neue"/>
              </a:defRPr>
            </a:lvl2pPr>
            <a:lvl3pPr>
              <a:defRPr sz="1950" b="0">
                <a:solidFill>
                  <a:srgbClr val="132A3A"/>
                </a:solidFill>
                <a:latin typeface="Helvetica Neue"/>
                <a:ea typeface="Helvetica Neue"/>
                <a:cs typeface="Helvetica Neue"/>
              </a:defRPr>
            </a:lvl3pPr>
            <a:lvl4pPr>
              <a:defRPr sz="1950" b="0">
                <a:solidFill>
                  <a:srgbClr val="132A3A"/>
                </a:solidFill>
                <a:latin typeface="Helvetica Neue"/>
                <a:ea typeface="Helvetica Neue"/>
                <a:cs typeface="Helvetica Neue"/>
              </a:defRPr>
            </a:lvl4pPr>
            <a:lvl5pPr>
              <a:defRPr sz="1950" b="0">
                <a:solidFill>
                  <a:srgbClr val="132A3A"/>
                </a:solidFill>
                <a:latin typeface="Helvetica Neue"/>
                <a:ea typeface="Helvetica Neue"/>
                <a:cs typeface="Helvetica Neue"/>
              </a:defRPr>
            </a:lvl5pPr>
            <a:lvl6pPr>
              <a:defRPr sz="1950" b="0">
                <a:solidFill>
                  <a:srgbClr val="132A3A"/>
                </a:solidFill>
                <a:latin typeface="Helvetica Neue"/>
                <a:ea typeface="Helvetica Neue"/>
                <a:cs typeface="Helvetica Neue"/>
              </a:defRPr>
            </a:lvl6pPr>
            <a:lvl7pPr>
              <a:defRPr sz="1950" b="0">
                <a:solidFill>
                  <a:srgbClr val="132A3A"/>
                </a:solidFill>
                <a:latin typeface="Helvetica Neue"/>
                <a:ea typeface="Helvetica Neue"/>
                <a:cs typeface="Helvetica Neue"/>
              </a:defRPr>
            </a:lvl7pPr>
            <a:lvl8pPr>
              <a:defRPr sz="1950" b="0">
                <a:solidFill>
                  <a:srgbClr val="132A3A"/>
                </a:solidFill>
                <a:latin typeface="Helvetica Neue"/>
                <a:ea typeface="Helvetica Neue"/>
                <a:cs typeface="Helvetica Neue"/>
              </a:defRPr>
            </a:lvl8pPr>
            <a:lvl9pPr>
              <a:defRPr sz="1950" b="0">
                <a:solidFill>
                  <a:srgbClr val="132A3A"/>
                </a:solidFill>
                <a:latin typeface="Helvetica Neue"/>
                <a:ea typeface="Helvetica Neue"/>
                <a:cs typeface="Helvetica Neue"/>
              </a:defRPr>
            </a:lvl9pPr>
          </a:lstStyle>
          <a:p xmlns:a="http://schemas.openxmlformats.org/drawingml/2006/main">
            <a:pPr>
              <a:defRPr sz="1950" b="0">
                <a:solidFill>
                  <a:srgbClr val="132A3A"/>
                </a:solidFill>
                <a:latin typeface="Helvetica Neue"/>
                <a:ea typeface="Helvetica Neue"/>
                <a:cs typeface="Helvetica Neue"/>
              </a:defRPr>
            </a:pPr>
            <a:r>
              <a:rPr sz="1950" b="0">
                <a:solidFill>
                  <a:srgbClr val="132A3A"/>
                </a:solidFill>
                <a:latin typeface="Helvetica Neue"/>
                <a:ea typeface="Helvetica Neue"/>
                <a:cs typeface="Helvetica Neue"/>
              </a:rPr>
              <a:t>Initial transfer case: 1.180 °C failure. Revised setting: fresh confirmation 0.552 °C, 0.214% crossing error.</a:t>
            </a:r>
          </a:p>
        </p:txBody>
      </p:sp>
      <p:sp>
        <p:nvSpPr>
          <p:cNvPr id="5" name="">
            <a:extLst xmlns:a="http://schemas.openxmlformats.org/drawingml/2006/main">
              <a:ext uri="{FF2B5EF4-FFF2-40B4-BE49-F238E27FC236}">
                <a16:creationId xmlns:a16="http://schemas.microsoft.com/office/drawing/2014/main" id="{C99E4F88-76BB-46B7-8900-A012B6B00F0E}"/>
              </a:ext>
            </a:extLst>
          </p:cNvPr>
          <p:cNvSpPr>
            <a:spLocks xmlns:a="http://schemas.openxmlformats.org/drawingml/2006/main" noGrp="1"/>
          </p:cNvSpPr>
          <p:nvPr/>
        </p:nvSpPr>
        <p:spPr>
          <a:xfrm xmlns:a="http://schemas.openxmlformats.org/drawingml/2006/main">
            <a:off x="609600" y="5838825"/>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49616E"/>
                </a:solidFill>
                <a:latin typeface="Helvetica Neue"/>
                <a:ea typeface="Helvetica Neue"/>
                <a:cs typeface="Helvetica Neue"/>
              </a:defRPr>
            </a:defPPr>
            <a:lvl1pPr>
              <a:defRPr sz="1800" b="0">
                <a:solidFill>
                  <a:srgbClr val="49616E"/>
                </a:solidFill>
                <a:latin typeface="Helvetica Neue"/>
                <a:ea typeface="Helvetica Neue"/>
                <a:cs typeface="Helvetica Neue"/>
              </a:defRPr>
            </a:lvl1pPr>
            <a:lvl2pPr>
              <a:defRPr sz="1800" b="0">
                <a:solidFill>
                  <a:srgbClr val="49616E"/>
                </a:solidFill>
                <a:latin typeface="Helvetica Neue"/>
                <a:ea typeface="Helvetica Neue"/>
                <a:cs typeface="Helvetica Neue"/>
              </a:defRPr>
            </a:lvl2pPr>
            <a:lvl3pPr>
              <a:defRPr sz="1800" b="0">
                <a:solidFill>
                  <a:srgbClr val="49616E"/>
                </a:solidFill>
                <a:latin typeface="Helvetica Neue"/>
                <a:ea typeface="Helvetica Neue"/>
                <a:cs typeface="Helvetica Neue"/>
              </a:defRPr>
            </a:lvl3pPr>
            <a:lvl4pPr>
              <a:defRPr sz="1800" b="0">
                <a:solidFill>
                  <a:srgbClr val="49616E"/>
                </a:solidFill>
                <a:latin typeface="Helvetica Neue"/>
                <a:ea typeface="Helvetica Neue"/>
                <a:cs typeface="Helvetica Neue"/>
              </a:defRPr>
            </a:lvl4pPr>
            <a:lvl5pPr>
              <a:defRPr sz="1800" b="0">
                <a:solidFill>
                  <a:srgbClr val="49616E"/>
                </a:solidFill>
                <a:latin typeface="Helvetica Neue"/>
                <a:ea typeface="Helvetica Neue"/>
                <a:cs typeface="Helvetica Neue"/>
              </a:defRPr>
            </a:lvl5pPr>
            <a:lvl6pPr>
              <a:defRPr sz="1800" b="0">
                <a:solidFill>
                  <a:srgbClr val="49616E"/>
                </a:solidFill>
                <a:latin typeface="Helvetica Neue"/>
                <a:ea typeface="Helvetica Neue"/>
                <a:cs typeface="Helvetica Neue"/>
              </a:defRPr>
            </a:lvl6pPr>
            <a:lvl7pPr>
              <a:defRPr sz="1800" b="0">
                <a:solidFill>
                  <a:srgbClr val="49616E"/>
                </a:solidFill>
                <a:latin typeface="Helvetica Neue"/>
                <a:ea typeface="Helvetica Neue"/>
                <a:cs typeface="Helvetica Neue"/>
              </a:defRPr>
            </a:lvl7pPr>
            <a:lvl8pPr>
              <a:defRPr sz="1800" b="0">
                <a:solidFill>
                  <a:srgbClr val="49616E"/>
                </a:solidFill>
                <a:latin typeface="Helvetica Neue"/>
                <a:ea typeface="Helvetica Neue"/>
                <a:cs typeface="Helvetica Neue"/>
              </a:defRPr>
            </a:lvl8pPr>
            <a:lvl9pPr>
              <a:defRPr sz="1800" b="0">
                <a:solidFill>
                  <a:srgbClr val="49616E"/>
                </a:solidFill>
                <a:latin typeface="Helvetica Neue"/>
                <a:ea typeface="Helvetica Neue"/>
                <a:cs typeface="Helvetica Neue"/>
              </a:defRPr>
            </a:lvl9pPr>
          </a:lstStyle>
          <a:p xmlns:a="http://schemas.openxmlformats.org/drawingml/2006/main">
            <a:pPr>
              <a:defRPr sz="1800" b="0">
                <a:solidFill>
                  <a:srgbClr val="49616E"/>
                </a:solidFill>
                <a:latin typeface="Helvetica Neue"/>
                <a:ea typeface="Helvetica Neue"/>
                <a:cs typeface="Helvetica Neue"/>
              </a:defRPr>
            </a:pPr>
            <a:r>
              <a:rPr sz="1800" b="0">
                <a:solidFill>
                  <a:srgbClr val="49616E"/>
                </a:solidFill>
                <a:latin typeface="Helvetica Neue"/>
                <a:ea typeface="Helvetica Neue"/>
                <a:cs typeface="Helvetica Neue"/>
              </a:rPr>
              <a:t>Selected solve 11.65× faster than the fine baseline. Separate vectorisation check: 8.05×, identical output.</a:t>
            </a:r>
          </a:p>
        </p:txBody>
      </p:sp>
    </p:spTree>
    <p:extLst>
      <p:ext uri="{BB962C8B-B14F-4D97-AF65-F5344CB8AC3E}">
        <p14:creationId xmlns:p14="http://schemas.microsoft.com/office/powerpoint/2010/main" val="77078756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A4682B8-0B02-461D-AE7F-761D5EDE328A}"/>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32A3A"/>
                </a:solidFill>
                <a:latin typeface="Helvetica Neue"/>
                <a:ea typeface="Helvetica Neue"/>
                <a:cs typeface="Helvetica Neue"/>
              </a:defRPr>
            </a:defPPr>
            <a:lvl1pPr>
              <a:defRPr sz="3300" b="1">
                <a:solidFill>
                  <a:srgbClr val="132A3A"/>
                </a:solidFill>
                <a:latin typeface="Helvetica Neue"/>
                <a:ea typeface="Helvetica Neue"/>
                <a:cs typeface="Helvetica Neue"/>
              </a:defRPr>
            </a:lvl1pPr>
            <a:lvl2pPr>
              <a:defRPr sz="3300" b="1">
                <a:solidFill>
                  <a:srgbClr val="132A3A"/>
                </a:solidFill>
                <a:latin typeface="Helvetica Neue"/>
                <a:ea typeface="Helvetica Neue"/>
                <a:cs typeface="Helvetica Neue"/>
              </a:defRPr>
            </a:lvl2pPr>
            <a:lvl3pPr>
              <a:defRPr sz="3300" b="1">
                <a:solidFill>
                  <a:srgbClr val="132A3A"/>
                </a:solidFill>
                <a:latin typeface="Helvetica Neue"/>
                <a:ea typeface="Helvetica Neue"/>
                <a:cs typeface="Helvetica Neue"/>
              </a:defRPr>
            </a:lvl3pPr>
            <a:lvl4pPr>
              <a:defRPr sz="3300" b="1">
                <a:solidFill>
                  <a:srgbClr val="132A3A"/>
                </a:solidFill>
                <a:latin typeface="Helvetica Neue"/>
                <a:ea typeface="Helvetica Neue"/>
                <a:cs typeface="Helvetica Neue"/>
              </a:defRPr>
            </a:lvl4pPr>
            <a:lvl5pPr>
              <a:defRPr sz="3300" b="1">
                <a:solidFill>
                  <a:srgbClr val="132A3A"/>
                </a:solidFill>
                <a:latin typeface="Helvetica Neue"/>
                <a:ea typeface="Helvetica Neue"/>
                <a:cs typeface="Helvetica Neue"/>
              </a:defRPr>
            </a:lvl5pPr>
            <a:lvl6pPr>
              <a:defRPr sz="3300" b="1">
                <a:solidFill>
                  <a:srgbClr val="132A3A"/>
                </a:solidFill>
                <a:latin typeface="Helvetica Neue"/>
                <a:ea typeface="Helvetica Neue"/>
                <a:cs typeface="Helvetica Neue"/>
              </a:defRPr>
            </a:lvl6pPr>
            <a:lvl7pPr>
              <a:defRPr sz="3300" b="1">
                <a:solidFill>
                  <a:srgbClr val="132A3A"/>
                </a:solidFill>
                <a:latin typeface="Helvetica Neue"/>
                <a:ea typeface="Helvetica Neue"/>
                <a:cs typeface="Helvetica Neue"/>
              </a:defRPr>
            </a:lvl7pPr>
            <a:lvl8pPr>
              <a:defRPr sz="3300" b="1">
                <a:solidFill>
                  <a:srgbClr val="132A3A"/>
                </a:solidFill>
                <a:latin typeface="Helvetica Neue"/>
                <a:ea typeface="Helvetica Neue"/>
                <a:cs typeface="Helvetica Neue"/>
              </a:defRPr>
            </a:lvl8pPr>
            <a:lvl9pPr>
              <a:defRPr sz="3300" b="1">
                <a:solidFill>
                  <a:srgbClr val="132A3A"/>
                </a:solidFill>
                <a:latin typeface="Helvetica Neue"/>
                <a:ea typeface="Helvetica Neue"/>
                <a:cs typeface="Helvetica Neue"/>
              </a:defRPr>
            </a:lvl9pPr>
          </a:lstStyle>
          <a:p xmlns:a="http://schemas.openxmlformats.org/drawingml/2006/main">
            <a:pPr>
              <a:defRPr sz="3300" b="1">
                <a:solidFill>
                  <a:srgbClr val="132A3A"/>
                </a:solidFill>
                <a:latin typeface="Helvetica Neue"/>
                <a:ea typeface="Helvetica Neue"/>
                <a:cs typeface="Helvetica Neue"/>
              </a:defRPr>
            </a:pPr>
            <a:r>
              <a:rPr sz="3300" b="1">
                <a:solidFill>
                  <a:srgbClr val="132A3A"/>
                </a:solidFill>
                <a:latin typeface="Helvetica Neue"/>
                <a:ea typeface="Helvetica Neue"/>
                <a:cs typeface="Helvetica Neue"/>
              </a:rPr>
              <a:t>Thickness and diffusivity sensitivity</a:t>
            </a:r>
          </a:p>
        </p:txBody>
      </p:sp>
      <p:graphicFrame>
        <p:nvGraphicFramePr>
          <p:cNvPr id="2" name="Chart">
            <a:extLst xmlns:a="http://schemas.openxmlformats.org/drawingml/2006/main">
              <a:ext uri="{FF2B5EF4-FFF2-40B4-BE49-F238E27FC236}">
                <a16:creationId xmlns:a16="http://schemas.microsoft.com/office/drawing/2014/main" id="{C75CD590-9F52-4AF5-82E9-F631FA89EF3F}"/>
              </a:ext>
            </a:extLst>
          </p:cNvPr>
          <p:cNvGraphicFramePr/>
          <p:nvPr/>
        </p:nvGraphicFramePr>
        <p:xfrm>
          <a:off xmlns:a="http://schemas.openxmlformats.org/drawingml/2006/main" x="590550" y="1495425"/>
          <a:ext xmlns:a="http://schemas.openxmlformats.org/drawingml/2006/main" cx="7143750" cy="3905250"/>
        </p:xfrm>
        <a:graphic xmlns:a="http://schemas.openxmlformats.org/drawingml/2006/main">
          <a:graphicData uri="http://schemas.openxmlformats.org/drawingml/2006/chart">
            <c:chart xmlns:r="http://schemas.openxmlformats.org/officeDocument/2006/relationships" xmlns:c="http://schemas.openxmlformats.org/drawingml/2006/chart" r:id="Rd854b4a8e6e64c7c"/>
          </a:graphicData>
        </a:graphic>
      </p:graphicFrame>
      <p:sp>
        <p:nvSpPr>
          <p:cNvPr id="3" name="">
            <a:extLst xmlns:a="http://schemas.openxmlformats.org/drawingml/2006/main">
              <a:ext uri="{FF2B5EF4-FFF2-40B4-BE49-F238E27FC236}">
                <a16:creationId xmlns:a16="http://schemas.microsoft.com/office/drawing/2014/main" id="{51001E57-54E6-4625-A5C4-E07A0AC6C8B0}"/>
              </a:ext>
            </a:extLst>
          </p:cNvPr>
          <p:cNvSpPr>
            <a:spLocks xmlns:a="http://schemas.openxmlformats.org/drawingml/2006/main" noGrp="1"/>
          </p:cNvSpPr>
          <p:nvPr/>
        </p:nvSpPr>
        <p:spPr>
          <a:xfrm xmlns:a="http://schemas.openxmlformats.org/drawingml/2006/main">
            <a:off x="8210550" y="1666875"/>
            <a:ext cx="319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007F87"/>
                </a:solidFill>
                <a:latin typeface="Helvetica Neue"/>
                <a:ea typeface="Helvetica Neue"/>
                <a:cs typeface="Helvetica Neue"/>
              </a:defRPr>
            </a:defPPr>
            <a:lvl1pPr>
              <a:defRPr sz="2325" b="1">
                <a:solidFill>
                  <a:srgbClr val="007F87"/>
                </a:solidFill>
                <a:latin typeface="Helvetica Neue"/>
                <a:ea typeface="Helvetica Neue"/>
                <a:cs typeface="Helvetica Neue"/>
              </a:defRPr>
            </a:lvl1pPr>
            <a:lvl2pPr>
              <a:defRPr sz="2325" b="1">
                <a:solidFill>
                  <a:srgbClr val="007F87"/>
                </a:solidFill>
                <a:latin typeface="Helvetica Neue"/>
                <a:ea typeface="Helvetica Neue"/>
                <a:cs typeface="Helvetica Neue"/>
              </a:defRPr>
            </a:lvl2pPr>
            <a:lvl3pPr>
              <a:defRPr sz="2325" b="1">
                <a:solidFill>
                  <a:srgbClr val="007F87"/>
                </a:solidFill>
                <a:latin typeface="Helvetica Neue"/>
                <a:ea typeface="Helvetica Neue"/>
                <a:cs typeface="Helvetica Neue"/>
              </a:defRPr>
            </a:lvl3pPr>
            <a:lvl4pPr>
              <a:defRPr sz="2325" b="1">
                <a:solidFill>
                  <a:srgbClr val="007F87"/>
                </a:solidFill>
                <a:latin typeface="Helvetica Neue"/>
                <a:ea typeface="Helvetica Neue"/>
                <a:cs typeface="Helvetica Neue"/>
              </a:defRPr>
            </a:lvl4pPr>
            <a:lvl5pPr>
              <a:defRPr sz="2325" b="1">
                <a:solidFill>
                  <a:srgbClr val="007F87"/>
                </a:solidFill>
                <a:latin typeface="Helvetica Neue"/>
                <a:ea typeface="Helvetica Neue"/>
                <a:cs typeface="Helvetica Neue"/>
              </a:defRPr>
            </a:lvl5pPr>
            <a:lvl6pPr>
              <a:defRPr sz="2325" b="1">
                <a:solidFill>
                  <a:srgbClr val="007F87"/>
                </a:solidFill>
                <a:latin typeface="Helvetica Neue"/>
                <a:ea typeface="Helvetica Neue"/>
                <a:cs typeface="Helvetica Neue"/>
              </a:defRPr>
            </a:lvl6pPr>
            <a:lvl7pPr>
              <a:defRPr sz="2325" b="1">
                <a:solidFill>
                  <a:srgbClr val="007F87"/>
                </a:solidFill>
                <a:latin typeface="Helvetica Neue"/>
                <a:ea typeface="Helvetica Neue"/>
                <a:cs typeface="Helvetica Neue"/>
              </a:defRPr>
            </a:lvl7pPr>
            <a:lvl8pPr>
              <a:defRPr sz="2325" b="1">
                <a:solidFill>
                  <a:srgbClr val="007F87"/>
                </a:solidFill>
                <a:latin typeface="Helvetica Neue"/>
                <a:ea typeface="Helvetica Neue"/>
                <a:cs typeface="Helvetica Neue"/>
              </a:defRPr>
            </a:lvl8pPr>
            <a:lvl9pPr>
              <a:defRPr sz="2325" b="1">
                <a:solidFill>
                  <a:srgbClr val="007F87"/>
                </a:solidFill>
                <a:latin typeface="Helvetica Neue"/>
                <a:ea typeface="Helvetica Neue"/>
                <a:cs typeface="Helvetica Neue"/>
              </a:defRPr>
            </a:lvl9pPr>
          </a:lstStyle>
          <a:p xmlns:a="http://schemas.openxmlformats.org/drawingml/2006/main">
            <a:pPr>
              <a:defRPr sz="2325" b="1">
                <a:solidFill>
                  <a:srgbClr val="007F87"/>
                </a:solidFill>
                <a:latin typeface="Helvetica Neue"/>
                <a:ea typeface="Helvetica Neue"/>
                <a:cs typeface="Helvetica Neue"/>
              </a:defRPr>
            </a:pPr>
            <a:r>
              <a:rPr sz="2325" b="1">
                <a:solidFill>
                  <a:srgbClr val="007F87"/>
                </a:solidFill>
                <a:latin typeface="Helvetica Neue"/>
                <a:ea typeface="Helvetica Neue"/>
                <a:cs typeface="Helvetica Neue"/>
              </a:rPr>
              <a:t>t scales with L² / alpha</a:t>
            </a:r>
          </a:p>
        </p:txBody>
      </p:sp>
      <p:sp>
        <p:nvSpPr>
          <p:cNvPr id="4" name="">
            <a:extLst xmlns:a="http://schemas.openxmlformats.org/drawingml/2006/main">
              <a:ext uri="{FF2B5EF4-FFF2-40B4-BE49-F238E27FC236}">
                <a16:creationId xmlns:a16="http://schemas.microsoft.com/office/drawing/2014/main" id="{2DD84E72-27D9-4AD6-BF08-FFAD385B3370}"/>
              </a:ext>
            </a:extLst>
          </p:cNvPr>
          <p:cNvSpPr>
            <a:spLocks xmlns:a="http://schemas.openxmlformats.org/drawingml/2006/main" noGrp="1"/>
          </p:cNvSpPr>
          <p:nvPr/>
        </p:nvSpPr>
        <p:spPr>
          <a:xfrm xmlns:a="http://schemas.openxmlformats.org/drawingml/2006/main">
            <a:off x="8210550" y="2695575"/>
            <a:ext cx="3190875"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32A3A"/>
                </a:solidFill>
                <a:latin typeface="Helvetica Neue"/>
                <a:ea typeface="Helvetica Neue"/>
                <a:cs typeface="Helvetica Neue"/>
              </a:defRPr>
            </a:defPPr>
            <a:lvl1pPr>
              <a:defRPr sz="1950" b="0">
                <a:solidFill>
                  <a:srgbClr val="132A3A"/>
                </a:solidFill>
                <a:latin typeface="Helvetica Neue"/>
                <a:ea typeface="Helvetica Neue"/>
                <a:cs typeface="Helvetica Neue"/>
              </a:defRPr>
            </a:lvl1pPr>
            <a:lvl2pPr>
              <a:defRPr sz="1950" b="0">
                <a:solidFill>
                  <a:srgbClr val="132A3A"/>
                </a:solidFill>
                <a:latin typeface="Helvetica Neue"/>
                <a:ea typeface="Helvetica Neue"/>
                <a:cs typeface="Helvetica Neue"/>
              </a:defRPr>
            </a:lvl2pPr>
            <a:lvl3pPr>
              <a:defRPr sz="1950" b="0">
                <a:solidFill>
                  <a:srgbClr val="132A3A"/>
                </a:solidFill>
                <a:latin typeface="Helvetica Neue"/>
                <a:ea typeface="Helvetica Neue"/>
                <a:cs typeface="Helvetica Neue"/>
              </a:defRPr>
            </a:lvl3pPr>
            <a:lvl4pPr>
              <a:defRPr sz="1950" b="0">
                <a:solidFill>
                  <a:srgbClr val="132A3A"/>
                </a:solidFill>
                <a:latin typeface="Helvetica Neue"/>
                <a:ea typeface="Helvetica Neue"/>
                <a:cs typeface="Helvetica Neue"/>
              </a:defRPr>
            </a:lvl4pPr>
            <a:lvl5pPr>
              <a:defRPr sz="1950" b="0">
                <a:solidFill>
                  <a:srgbClr val="132A3A"/>
                </a:solidFill>
                <a:latin typeface="Helvetica Neue"/>
                <a:ea typeface="Helvetica Neue"/>
                <a:cs typeface="Helvetica Neue"/>
              </a:defRPr>
            </a:lvl5pPr>
            <a:lvl6pPr>
              <a:defRPr sz="1950" b="0">
                <a:solidFill>
                  <a:srgbClr val="132A3A"/>
                </a:solidFill>
                <a:latin typeface="Helvetica Neue"/>
                <a:ea typeface="Helvetica Neue"/>
                <a:cs typeface="Helvetica Neue"/>
              </a:defRPr>
            </a:lvl6pPr>
            <a:lvl7pPr>
              <a:defRPr sz="1950" b="0">
                <a:solidFill>
                  <a:srgbClr val="132A3A"/>
                </a:solidFill>
                <a:latin typeface="Helvetica Neue"/>
                <a:ea typeface="Helvetica Neue"/>
                <a:cs typeface="Helvetica Neue"/>
              </a:defRPr>
            </a:lvl7pPr>
            <a:lvl8pPr>
              <a:defRPr sz="1950" b="0">
                <a:solidFill>
                  <a:srgbClr val="132A3A"/>
                </a:solidFill>
                <a:latin typeface="Helvetica Neue"/>
                <a:ea typeface="Helvetica Neue"/>
                <a:cs typeface="Helvetica Neue"/>
              </a:defRPr>
            </a:lvl8pPr>
            <a:lvl9pPr>
              <a:defRPr sz="1950" b="0">
                <a:solidFill>
                  <a:srgbClr val="132A3A"/>
                </a:solidFill>
                <a:latin typeface="Helvetica Neue"/>
                <a:ea typeface="Helvetica Neue"/>
                <a:cs typeface="Helvetica Neue"/>
              </a:defRPr>
            </a:lvl9pPr>
          </a:lstStyle>
          <a:p xmlns:a="http://schemas.openxmlformats.org/drawingml/2006/main">
            <a:pPr>
              <a:defRPr sz="1950" b="0">
                <a:solidFill>
                  <a:srgbClr val="132A3A"/>
                </a:solidFill>
                <a:latin typeface="Helvetica Neue"/>
                <a:ea typeface="Helvetica Neue"/>
                <a:cs typeface="Helvetica Neue"/>
              </a:defRPr>
            </a:pPr>
            <a:r>
              <a:rPr sz="1950" b="0">
                <a:solidFill>
                  <a:srgbClr val="132A3A"/>
                </a:solidFill>
                <a:latin typeface="Helvetica Neue"/>
                <a:ea typeface="Helvetica Neue"/>
                <a:cs typeface="Helvetica Neue"/>
              </a:rPr>
              <a:t>Double thickness</a:t>
            </a:r>
          </a:p>
          <a:p xmlns:a="http://schemas.openxmlformats.org/drawingml/2006/main">
            <a:pPr>
              <a:defRPr sz="1950" b="0">
                <a:solidFill>
                  <a:srgbClr val="132A3A"/>
                </a:solidFill>
                <a:latin typeface="Helvetica Neue"/>
                <a:ea typeface="Helvetica Neue"/>
                <a:cs typeface="Helvetica Neue"/>
              </a:defRPr>
            </a:pPr>
            <a:r>
              <a:rPr sz="1950" b="0">
                <a:solidFill>
                  <a:srgbClr val="132A3A"/>
                </a:solidFill>
                <a:latin typeface="Helvetica Neue"/>
                <a:ea typeface="Helvetica Neue"/>
                <a:cs typeface="Helvetica Neue"/>
              </a:rPr>
              <a:t>4 × cooling time</a:t>
            </a:r>
          </a:p>
          <a:p xmlns:a="http://schemas.openxmlformats.org/drawingml/2006/main">
            <a:r>
              <a:t/>
            </a:r>
          </a:p>
          <a:p xmlns:a="http://schemas.openxmlformats.org/drawingml/2006/main">
            <a:pPr>
              <a:defRPr sz="1950" b="0">
                <a:solidFill>
                  <a:srgbClr val="132A3A"/>
                </a:solidFill>
                <a:latin typeface="Helvetica Neue"/>
                <a:ea typeface="Helvetica Neue"/>
                <a:cs typeface="Helvetica Neue"/>
              </a:defRPr>
            </a:pPr>
            <a:r>
              <a:rPr sz="1950" b="0">
                <a:solidFill>
                  <a:srgbClr val="132A3A"/>
                </a:solidFill>
                <a:latin typeface="Helvetica Neue"/>
                <a:ea typeface="Helvetica Neue"/>
                <a:cs typeface="Helvetica Neue"/>
              </a:rPr>
              <a:t>Double diffusivity</a:t>
            </a:r>
          </a:p>
          <a:p xmlns:a="http://schemas.openxmlformats.org/drawingml/2006/main">
            <a:pPr>
              <a:defRPr sz="1950" b="0">
                <a:solidFill>
                  <a:srgbClr val="132A3A"/>
                </a:solidFill>
                <a:latin typeface="Helvetica Neue"/>
                <a:ea typeface="Helvetica Neue"/>
                <a:cs typeface="Helvetica Neue"/>
              </a:defRPr>
            </a:pPr>
            <a:r>
              <a:rPr sz="1950" b="0">
                <a:solidFill>
                  <a:srgbClr val="132A3A"/>
                </a:solidFill>
                <a:latin typeface="Helvetica Neue"/>
                <a:ea typeface="Helvetica Neue"/>
                <a:cs typeface="Helvetica Neue"/>
              </a:rPr>
              <a:t>0.5 × cooling time</a:t>
            </a:r>
          </a:p>
        </p:txBody>
      </p:sp>
      <p:sp>
        <p:nvSpPr>
          <p:cNvPr id="5" name="">
            <a:extLst xmlns:a="http://schemas.openxmlformats.org/drawingml/2006/main">
              <a:ext uri="{FF2B5EF4-FFF2-40B4-BE49-F238E27FC236}">
                <a16:creationId xmlns:a16="http://schemas.microsoft.com/office/drawing/2014/main" id="{F124B4B0-DE4A-4E4A-8F55-575DEA1FF9B6}"/>
              </a:ext>
            </a:extLst>
          </p:cNvPr>
          <p:cNvSpPr>
            <a:spLocks xmlns:a="http://schemas.openxmlformats.org/drawingml/2006/main" noGrp="1"/>
          </p:cNvSpPr>
          <p:nvPr/>
        </p:nvSpPr>
        <p:spPr>
          <a:xfrm xmlns:a="http://schemas.openxmlformats.org/drawingml/2006/main">
            <a:off x="609600" y="5743575"/>
            <a:ext cx="10810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49616E"/>
                </a:solidFill>
                <a:latin typeface="Helvetica Neue"/>
                <a:ea typeface="Helvetica Neue"/>
                <a:cs typeface="Helvetica Neue"/>
              </a:defRPr>
            </a:defPPr>
            <a:lvl1pPr>
              <a:defRPr sz="1800" b="0">
                <a:solidFill>
                  <a:srgbClr val="49616E"/>
                </a:solidFill>
                <a:latin typeface="Helvetica Neue"/>
                <a:ea typeface="Helvetica Neue"/>
                <a:cs typeface="Helvetica Neue"/>
              </a:defRPr>
            </a:lvl1pPr>
            <a:lvl2pPr>
              <a:defRPr sz="1800" b="0">
                <a:solidFill>
                  <a:srgbClr val="49616E"/>
                </a:solidFill>
                <a:latin typeface="Helvetica Neue"/>
                <a:ea typeface="Helvetica Neue"/>
                <a:cs typeface="Helvetica Neue"/>
              </a:defRPr>
            </a:lvl2pPr>
            <a:lvl3pPr>
              <a:defRPr sz="1800" b="0">
                <a:solidFill>
                  <a:srgbClr val="49616E"/>
                </a:solidFill>
                <a:latin typeface="Helvetica Neue"/>
                <a:ea typeface="Helvetica Neue"/>
                <a:cs typeface="Helvetica Neue"/>
              </a:defRPr>
            </a:lvl3pPr>
            <a:lvl4pPr>
              <a:defRPr sz="1800" b="0">
                <a:solidFill>
                  <a:srgbClr val="49616E"/>
                </a:solidFill>
                <a:latin typeface="Helvetica Neue"/>
                <a:ea typeface="Helvetica Neue"/>
                <a:cs typeface="Helvetica Neue"/>
              </a:defRPr>
            </a:lvl4pPr>
            <a:lvl5pPr>
              <a:defRPr sz="1800" b="0">
                <a:solidFill>
                  <a:srgbClr val="49616E"/>
                </a:solidFill>
                <a:latin typeface="Helvetica Neue"/>
                <a:ea typeface="Helvetica Neue"/>
                <a:cs typeface="Helvetica Neue"/>
              </a:defRPr>
            </a:lvl5pPr>
            <a:lvl6pPr>
              <a:defRPr sz="1800" b="0">
                <a:solidFill>
                  <a:srgbClr val="49616E"/>
                </a:solidFill>
                <a:latin typeface="Helvetica Neue"/>
                <a:ea typeface="Helvetica Neue"/>
                <a:cs typeface="Helvetica Neue"/>
              </a:defRPr>
            </a:lvl6pPr>
            <a:lvl7pPr>
              <a:defRPr sz="1800" b="0">
                <a:solidFill>
                  <a:srgbClr val="49616E"/>
                </a:solidFill>
                <a:latin typeface="Helvetica Neue"/>
                <a:ea typeface="Helvetica Neue"/>
                <a:cs typeface="Helvetica Neue"/>
              </a:defRPr>
            </a:lvl7pPr>
            <a:lvl8pPr>
              <a:defRPr sz="1800" b="0">
                <a:solidFill>
                  <a:srgbClr val="49616E"/>
                </a:solidFill>
                <a:latin typeface="Helvetica Neue"/>
                <a:ea typeface="Helvetica Neue"/>
                <a:cs typeface="Helvetica Neue"/>
              </a:defRPr>
            </a:lvl8pPr>
            <a:lvl9pPr>
              <a:defRPr sz="1800" b="0">
                <a:solidFill>
                  <a:srgbClr val="49616E"/>
                </a:solidFill>
                <a:latin typeface="Helvetica Neue"/>
                <a:ea typeface="Helvetica Neue"/>
                <a:cs typeface="Helvetica Neue"/>
              </a:defRPr>
            </a:lvl9pPr>
          </a:lstStyle>
          <a:p xmlns:a="http://schemas.openxmlformats.org/drawingml/2006/main">
            <a:pPr>
              <a:defRPr sz="1800" b="0">
                <a:solidFill>
                  <a:srgbClr val="49616E"/>
                </a:solidFill>
                <a:latin typeface="Helvetica Neue"/>
                <a:ea typeface="Helvetica Neue"/>
                <a:cs typeface="Helvetica Neue"/>
              </a:defRPr>
            </a:pPr>
            <a:r>
              <a:rPr sz="1800" b="0">
                <a:solidFill>
                  <a:srgbClr val="49616E"/>
                </a:solidFill>
                <a:latin typeface="Helvetica Neue"/>
                <a:ea typeface="Helvetica Neue"/>
                <a:cs typeface="Helvetica Neue"/>
              </a:rPr>
              <a:t>Analytical verification supports the model calculation. Real-process validation needs measured properties and boundary data.</a:t>
            </a:r>
          </a:p>
        </p:txBody>
      </p:sp>
    </p:spTree>
    <p:extLst>
      <p:ext uri="{BB962C8B-B14F-4D97-AF65-F5344CB8AC3E}">
        <p14:creationId xmlns:p14="http://schemas.microsoft.com/office/powerpoint/2010/main" val="202043650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206B050-3E0E-4ECF-8481-05C727E2DBB0}"/>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32A3A"/>
                </a:solidFill>
                <a:latin typeface="Helvetica Neue"/>
                <a:ea typeface="Helvetica Neue"/>
                <a:cs typeface="Helvetica Neue"/>
              </a:defRPr>
            </a:defPPr>
            <a:lvl1pPr>
              <a:defRPr sz="3300" b="1">
                <a:solidFill>
                  <a:srgbClr val="132A3A"/>
                </a:solidFill>
                <a:latin typeface="Helvetica Neue"/>
                <a:ea typeface="Helvetica Neue"/>
                <a:cs typeface="Helvetica Neue"/>
              </a:defRPr>
            </a:lvl1pPr>
            <a:lvl2pPr>
              <a:defRPr sz="3300" b="1">
                <a:solidFill>
                  <a:srgbClr val="132A3A"/>
                </a:solidFill>
                <a:latin typeface="Helvetica Neue"/>
                <a:ea typeface="Helvetica Neue"/>
                <a:cs typeface="Helvetica Neue"/>
              </a:defRPr>
            </a:lvl2pPr>
            <a:lvl3pPr>
              <a:defRPr sz="3300" b="1">
                <a:solidFill>
                  <a:srgbClr val="132A3A"/>
                </a:solidFill>
                <a:latin typeface="Helvetica Neue"/>
                <a:ea typeface="Helvetica Neue"/>
                <a:cs typeface="Helvetica Neue"/>
              </a:defRPr>
            </a:lvl3pPr>
            <a:lvl4pPr>
              <a:defRPr sz="3300" b="1">
                <a:solidFill>
                  <a:srgbClr val="132A3A"/>
                </a:solidFill>
                <a:latin typeface="Helvetica Neue"/>
                <a:ea typeface="Helvetica Neue"/>
                <a:cs typeface="Helvetica Neue"/>
              </a:defRPr>
            </a:lvl4pPr>
            <a:lvl5pPr>
              <a:defRPr sz="3300" b="1">
                <a:solidFill>
                  <a:srgbClr val="132A3A"/>
                </a:solidFill>
                <a:latin typeface="Helvetica Neue"/>
                <a:ea typeface="Helvetica Neue"/>
                <a:cs typeface="Helvetica Neue"/>
              </a:defRPr>
            </a:lvl5pPr>
            <a:lvl6pPr>
              <a:defRPr sz="3300" b="1">
                <a:solidFill>
                  <a:srgbClr val="132A3A"/>
                </a:solidFill>
                <a:latin typeface="Helvetica Neue"/>
                <a:ea typeface="Helvetica Neue"/>
                <a:cs typeface="Helvetica Neue"/>
              </a:defRPr>
            </a:lvl6pPr>
            <a:lvl7pPr>
              <a:defRPr sz="3300" b="1">
                <a:solidFill>
                  <a:srgbClr val="132A3A"/>
                </a:solidFill>
                <a:latin typeface="Helvetica Neue"/>
                <a:ea typeface="Helvetica Neue"/>
                <a:cs typeface="Helvetica Neue"/>
              </a:defRPr>
            </a:lvl7pPr>
            <a:lvl8pPr>
              <a:defRPr sz="3300" b="1">
                <a:solidFill>
                  <a:srgbClr val="132A3A"/>
                </a:solidFill>
                <a:latin typeface="Helvetica Neue"/>
                <a:ea typeface="Helvetica Neue"/>
                <a:cs typeface="Helvetica Neue"/>
              </a:defRPr>
            </a:lvl8pPr>
            <a:lvl9pPr>
              <a:defRPr sz="3300" b="1">
                <a:solidFill>
                  <a:srgbClr val="132A3A"/>
                </a:solidFill>
                <a:latin typeface="Helvetica Neue"/>
                <a:ea typeface="Helvetica Neue"/>
                <a:cs typeface="Helvetica Neue"/>
              </a:defRPr>
            </a:lvl9pPr>
          </a:lstStyle>
          <a:p xmlns:a="http://schemas.openxmlformats.org/drawingml/2006/main">
            <a:pPr>
              <a:defRPr sz="3300" b="1">
                <a:solidFill>
                  <a:srgbClr val="132A3A"/>
                </a:solidFill>
                <a:latin typeface="Helvetica Neue"/>
                <a:ea typeface="Helvetica Neue"/>
                <a:cs typeface="Helvetica Neue"/>
              </a:defRPr>
            </a:pPr>
            <a:r>
              <a:rPr sz="3300" b="1">
                <a:solidFill>
                  <a:srgbClr val="132A3A"/>
                </a:solidFill>
                <a:latin typeface="Helvetica Neue"/>
                <a:ea typeface="Helvetica Neue"/>
                <a:cs typeface="Helvetica Neue"/>
              </a:rPr>
              <a:t>Repository demonstration and AI disclosure</a:t>
            </a:r>
          </a:p>
        </p:txBody>
      </p:sp>
      <p:sp>
        <p:nvSpPr>
          <p:cNvPr id="2" name="">
            <a:extLst xmlns:a="http://schemas.openxmlformats.org/drawingml/2006/main">
              <a:ext uri="{FF2B5EF4-FFF2-40B4-BE49-F238E27FC236}">
                <a16:creationId xmlns:a16="http://schemas.microsoft.com/office/drawing/2014/main" id="{301AAD0C-32BF-43C8-81DD-2BCE1966BF1A}"/>
              </a:ext>
            </a:extLst>
          </p:cNvPr>
          <p:cNvSpPr>
            <a:spLocks xmlns:a="http://schemas.openxmlformats.org/drawingml/2006/main" noGrp="1"/>
          </p:cNvSpPr>
          <p:nvPr/>
        </p:nvSpPr>
        <p:spPr>
          <a:xfrm xmlns:a="http://schemas.openxmlformats.org/drawingml/2006/main">
            <a:off x="609600" y="14763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007F87"/>
                </a:solidFill>
                <a:latin typeface="Helvetica Neue"/>
                <a:ea typeface="Helvetica Neue"/>
                <a:cs typeface="Helvetica Neue"/>
              </a:defRPr>
            </a:defPPr>
            <a:lvl1pPr>
              <a:defRPr sz="2325" b="1">
                <a:solidFill>
                  <a:srgbClr val="007F87"/>
                </a:solidFill>
                <a:latin typeface="Helvetica Neue"/>
                <a:ea typeface="Helvetica Neue"/>
                <a:cs typeface="Helvetica Neue"/>
              </a:defRPr>
            </a:lvl1pPr>
            <a:lvl2pPr>
              <a:defRPr sz="2325" b="1">
                <a:solidFill>
                  <a:srgbClr val="007F87"/>
                </a:solidFill>
                <a:latin typeface="Helvetica Neue"/>
                <a:ea typeface="Helvetica Neue"/>
                <a:cs typeface="Helvetica Neue"/>
              </a:defRPr>
            </a:lvl2pPr>
            <a:lvl3pPr>
              <a:defRPr sz="2325" b="1">
                <a:solidFill>
                  <a:srgbClr val="007F87"/>
                </a:solidFill>
                <a:latin typeface="Helvetica Neue"/>
                <a:ea typeface="Helvetica Neue"/>
                <a:cs typeface="Helvetica Neue"/>
              </a:defRPr>
            </a:lvl3pPr>
            <a:lvl4pPr>
              <a:defRPr sz="2325" b="1">
                <a:solidFill>
                  <a:srgbClr val="007F87"/>
                </a:solidFill>
                <a:latin typeface="Helvetica Neue"/>
                <a:ea typeface="Helvetica Neue"/>
                <a:cs typeface="Helvetica Neue"/>
              </a:defRPr>
            </a:lvl4pPr>
            <a:lvl5pPr>
              <a:defRPr sz="2325" b="1">
                <a:solidFill>
                  <a:srgbClr val="007F87"/>
                </a:solidFill>
                <a:latin typeface="Helvetica Neue"/>
                <a:ea typeface="Helvetica Neue"/>
                <a:cs typeface="Helvetica Neue"/>
              </a:defRPr>
            </a:lvl5pPr>
            <a:lvl6pPr>
              <a:defRPr sz="2325" b="1">
                <a:solidFill>
                  <a:srgbClr val="007F87"/>
                </a:solidFill>
                <a:latin typeface="Helvetica Neue"/>
                <a:ea typeface="Helvetica Neue"/>
                <a:cs typeface="Helvetica Neue"/>
              </a:defRPr>
            </a:lvl6pPr>
            <a:lvl7pPr>
              <a:defRPr sz="2325" b="1">
                <a:solidFill>
                  <a:srgbClr val="007F87"/>
                </a:solidFill>
                <a:latin typeface="Helvetica Neue"/>
                <a:ea typeface="Helvetica Neue"/>
                <a:cs typeface="Helvetica Neue"/>
              </a:defRPr>
            </a:lvl7pPr>
            <a:lvl8pPr>
              <a:defRPr sz="2325" b="1">
                <a:solidFill>
                  <a:srgbClr val="007F87"/>
                </a:solidFill>
                <a:latin typeface="Helvetica Neue"/>
                <a:ea typeface="Helvetica Neue"/>
                <a:cs typeface="Helvetica Neue"/>
              </a:defRPr>
            </a:lvl8pPr>
            <a:lvl9pPr>
              <a:defRPr sz="2325" b="1">
                <a:solidFill>
                  <a:srgbClr val="007F87"/>
                </a:solidFill>
                <a:latin typeface="Helvetica Neue"/>
                <a:ea typeface="Helvetica Neue"/>
                <a:cs typeface="Helvetica Neue"/>
              </a:defRPr>
            </a:lvl9pPr>
          </a:lstStyle>
          <a:p xmlns:a="http://schemas.openxmlformats.org/drawingml/2006/main">
            <a:pPr>
              <a:defRPr sz="2325" b="1">
                <a:solidFill>
                  <a:srgbClr val="007F87"/>
                </a:solidFill>
                <a:latin typeface="Helvetica Neue"/>
                <a:ea typeface="Helvetica Neue"/>
                <a:cs typeface="Helvetica Neue"/>
              </a:defRPr>
            </a:pPr>
            <a:r>
              <a:rPr sz="2325" b="1">
                <a:solidFill>
                  <a:srgbClr val="007F87"/>
                </a:solidFill>
                <a:latin typeface="Helvetica Neue"/>
                <a:ea typeface="Helvetica Neue"/>
                <a:cs typeface="Helvetica Neue"/>
              </a:rPr>
              <a:t>Live walkthrough</a:t>
            </a:r>
          </a:p>
        </p:txBody>
      </p:sp>
      <p:sp>
        <p:nvSpPr>
          <p:cNvPr id="3" name="">
            <a:extLst xmlns:a="http://schemas.openxmlformats.org/drawingml/2006/main">
              <a:ext uri="{FF2B5EF4-FFF2-40B4-BE49-F238E27FC236}">
                <a16:creationId xmlns:a16="http://schemas.microsoft.com/office/drawing/2014/main" id="{13266C60-4D04-41E4-88CC-AEA7074C2724}"/>
              </a:ext>
            </a:extLst>
          </p:cNvPr>
          <p:cNvSpPr>
            <a:spLocks xmlns:a="http://schemas.openxmlformats.org/drawingml/2006/main" noGrp="1"/>
          </p:cNvSpPr>
          <p:nvPr/>
        </p:nvSpPr>
        <p:spPr>
          <a:xfrm xmlns:a="http://schemas.openxmlformats.org/drawingml/2006/main">
            <a:off x="609600" y="2209800"/>
            <a:ext cx="5381625" cy="243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32A3A"/>
                </a:solidFill>
                <a:latin typeface="Helvetica Neue"/>
                <a:ea typeface="Helvetica Neue"/>
                <a:cs typeface="Helvetica Neue"/>
              </a:defRPr>
            </a:defPPr>
            <a:lvl1pPr>
              <a:defRPr sz="2100" b="0">
                <a:solidFill>
                  <a:srgbClr val="132A3A"/>
                </a:solidFill>
                <a:latin typeface="Helvetica Neue"/>
                <a:ea typeface="Helvetica Neue"/>
                <a:cs typeface="Helvetica Neue"/>
              </a:defRPr>
            </a:lvl1pPr>
            <a:lvl2pPr>
              <a:defRPr sz="2100" b="0">
                <a:solidFill>
                  <a:srgbClr val="132A3A"/>
                </a:solidFill>
                <a:latin typeface="Helvetica Neue"/>
                <a:ea typeface="Helvetica Neue"/>
                <a:cs typeface="Helvetica Neue"/>
              </a:defRPr>
            </a:lvl2pPr>
            <a:lvl3pPr>
              <a:defRPr sz="2100" b="0">
                <a:solidFill>
                  <a:srgbClr val="132A3A"/>
                </a:solidFill>
                <a:latin typeface="Helvetica Neue"/>
                <a:ea typeface="Helvetica Neue"/>
                <a:cs typeface="Helvetica Neue"/>
              </a:defRPr>
            </a:lvl3pPr>
            <a:lvl4pPr>
              <a:defRPr sz="2100" b="0">
                <a:solidFill>
                  <a:srgbClr val="132A3A"/>
                </a:solidFill>
                <a:latin typeface="Helvetica Neue"/>
                <a:ea typeface="Helvetica Neue"/>
                <a:cs typeface="Helvetica Neue"/>
              </a:defRPr>
            </a:lvl4pPr>
            <a:lvl5pPr>
              <a:defRPr sz="2100" b="0">
                <a:solidFill>
                  <a:srgbClr val="132A3A"/>
                </a:solidFill>
                <a:latin typeface="Helvetica Neue"/>
                <a:ea typeface="Helvetica Neue"/>
                <a:cs typeface="Helvetica Neue"/>
              </a:defRPr>
            </a:lvl5pPr>
            <a:lvl6pPr>
              <a:defRPr sz="2100" b="0">
                <a:solidFill>
                  <a:srgbClr val="132A3A"/>
                </a:solidFill>
                <a:latin typeface="Helvetica Neue"/>
                <a:ea typeface="Helvetica Neue"/>
                <a:cs typeface="Helvetica Neue"/>
              </a:defRPr>
            </a:lvl6pPr>
            <a:lvl7pPr>
              <a:defRPr sz="2100" b="0">
                <a:solidFill>
                  <a:srgbClr val="132A3A"/>
                </a:solidFill>
                <a:latin typeface="Helvetica Neue"/>
                <a:ea typeface="Helvetica Neue"/>
                <a:cs typeface="Helvetica Neue"/>
              </a:defRPr>
            </a:lvl7pPr>
            <a:lvl8pPr>
              <a:defRPr sz="2100" b="0">
                <a:solidFill>
                  <a:srgbClr val="132A3A"/>
                </a:solidFill>
                <a:latin typeface="Helvetica Neue"/>
                <a:ea typeface="Helvetica Neue"/>
                <a:cs typeface="Helvetica Neue"/>
              </a:defRPr>
            </a:lvl8pPr>
            <a:lvl9pPr>
              <a:defRPr sz="2100" b="0">
                <a:solidFill>
                  <a:srgbClr val="132A3A"/>
                </a:solidFill>
                <a:latin typeface="Helvetica Neue"/>
                <a:ea typeface="Helvetica Neue"/>
                <a:cs typeface="Helvetica Neue"/>
              </a:defRPr>
            </a:lvl9pPr>
          </a:lstStyle>
          <a:p xmlns:a="http://schemas.openxmlformats.org/drawingml/2006/main">
            <a:pPr>
              <a:defRPr sz="2100" b="0">
                <a:solidFill>
                  <a:srgbClr val="132A3A"/>
                </a:solidFill>
                <a:latin typeface="Helvetica Neue"/>
                <a:ea typeface="Helvetica Neue"/>
                <a:cs typeface="Helvetica Neue"/>
              </a:defRPr>
            </a:pPr>
            <a:r>
              <a:rPr sz="2100" b="0">
                <a:solidFill>
                  <a:srgbClr val="132A3A"/>
                </a:solidFill>
                <a:latin typeface="Helvetica Neue"/>
                <a:ea typeface="Helvetica Neue"/>
                <a:cs typeface="Helvetica Neue"/>
              </a:rPr>
              <a:t>README and reproducible commands</a:t>
            </a:r>
          </a:p>
          <a:p xmlns:a="http://schemas.openxmlformats.org/drawingml/2006/main">
            <a:pPr>
              <a:defRPr sz="2100" b="0">
                <a:solidFill>
                  <a:srgbClr val="132A3A"/>
                </a:solidFill>
                <a:latin typeface="Helvetica Neue"/>
                <a:ea typeface="Helvetica Neue"/>
                <a:cs typeface="Helvetica Neue"/>
              </a:defRPr>
            </a:pPr>
            <a:r>
              <a:rPr sz="2100" b="0">
                <a:solidFill>
                  <a:srgbClr val="132A3A"/>
                </a:solidFill>
                <a:latin typeface="Helvetica Neue"/>
                <a:ea typeface="Helvetica Neue"/>
                <a:cs typeface="Helvetica Neue"/>
              </a:rPr>
              <a:t>Source and generated API documentation</a:t>
            </a:r>
          </a:p>
          <a:p xmlns:a="http://schemas.openxmlformats.org/drawingml/2006/main">
            <a:pPr>
              <a:defRPr sz="2100" b="0">
                <a:solidFill>
                  <a:srgbClr val="132A3A"/>
                </a:solidFill>
                <a:latin typeface="Helvetica Neue"/>
                <a:ea typeface="Helvetica Neue"/>
                <a:cs typeface="Helvetica Neue"/>
              </a:defRPr>
            </a:pPr>
            <a:r>
              <a:rPr sz="2100" b="0">
                <a:solidFill>
                  <a:srgbClr val="132A3A"/>
                </a:solidFill>
                <a:latin typeface="Helvetica Neue"/>
                <a:ea typeface="Helvetica Neue"/>
                <a:cs typeface="Helvetica Neue"/>
              </a:rPr>
              <a:t>Tests, report and saved results</a:t>
            </a:r>
          </a:p>
          <a:p xmlns:a="http://schemas.openxmlformats.org/drawingml/2006/main">
            <a:pPr>
              <a:defRPr sz="2100" b="0">
                <a:solidFill>
                  <a:srgbClr val="132A3A"/>
                </a:solidFill>
                <a:latin typeface="Helvetica Neue"/>
                <a:ea typeface="Helvetica Neue"/>
                <a:cs typeface="Helvetica Neue"/>
              </a:defRPr>
            </a:pPr>
            <a:r>
              <a:rPr sz="2100" b="0">
                <a:solidFill>
                  <a:srgbClr val="132A3A"/>
                </a:solidFill>
                <a:latin typeface="Helvetica Neue"/>
                <a:ea typeface="Helvetica Neue"/>
                <a:cs typeface="Helvetica Neue"/>
              </a:rPr>
              <a:t>Genuine development history</a:t>
            </a:r>
          </a:p>
        </p:txBody>
      </p:sp>
      <p:sp>
        <p:nvSpPr>
          <p:cNvPr id="4" name="">
            <a:extLst xmlns:a="http://schemas.openxmlformats.org/drawingml/2006/main">
              <a:ext uri="{FF2B5EF4-FFF2-40B4-BE49-F238E27FC236}">
                <a16:creationId xmlns:a16="http://schemas.microsoft.com/office/drawing/2014/main" id="{109C789B-1085-49C5-B3A2-CBA6CF791DAE}"/>
              </a:ext>
            </a:extLst>
          </p:cNvPr>
          <p:cNvSpPr>
            <a:spLocks xmlns:a="http://schemas.openxmlformats.org/drawingml/2006/main" noGrp="1"/>
          </p:cNvSpPr>
          <p:nvPr/>
        </p:nvSpPr>
        <p:spPr>
          <a:xfrm xmlns:a="http://schemas.openxmlformats.org/drawingml/2006/main">
            <a:off x="6762750" y="1476375"/>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BD551E"/>
                </a:solidFill>
                <a:latin typeface="Helvetica Neue"/>
                <a:ea typeface="Helvetica Neue"/>
                <a:cs typeface="Helvetica Neue"/>
              </a:defRPr>
            </a:defPPr>
            <a:lvl1pPr>
              <a:defRPr sz="2325" b="1">
                <a:solidFill>
                  <a:srgbClr val="BD551E"/>
                </a:solidFill>
                <a:latin typeface="Helvetica Neue"/>
                <a:ea typeface="Helvetica Neue"/>
                <a:cs typeface="Helvetica Neue"/>
              </a:defRPr>
            </a:lvl1pPr>
            <a:lvl2pPr>
              <a:defRPr sz="2325" b="1">
                <a:solidFill>
                  <a:srgbClr val="BD551E"/>
                </a:solidFill>
                <a:latin typeface="Helvetica Neue"/>
                <a:ea typeface="Helvetica Neue"/>
                <a:cs typeface="Helvetica Neue"/>
              </a:defRPr>
            </a:lvl2pPr>
            <a:lvl3pPr>
              <a:defRPr sz="2325" b="1">
                <a:solidFill>
                  <a:srgbClr val="BD551E"/>
                </a:solidFill>
                <a:latin typeface="Helvetica Neue"/>
                <a:ea typeface="Helvetica Neue"/>
                <a:cs typeface="Helvetica Neue"/>
              </a:defRPr>
            </a:lvl3pPr>
            <a:lvl4pPr>
              <a:defRPr sz="2325" b="1">
                <a:solidFill>
                  <a:srgbClr val="BD551E"/>
                </a:solidFill>
                <a:latin typeface="Helvetica Neue"/>
                <a:ea typeface="Helvetica Neue"/>
                <a:cs typeface="Helvetica Neue"/>
              </a:defRPr>
            </a:lvl4pPr>
            <a:lvl5pPr>
              <a:defRPr sz="2325" b="1">
                <a:solidFill>
                  <a:srgbClr val="BD551E"/>
                </a:solidFill>
                <a:latin typeface="Helvetica Neue"/>
                <a:ea typeface="Helvetica Neue"/>
                <a:cs typeface="Helvetica Neue"/>
              </a:defRPr>
            </a:lvl5pPr>
            <a:lvl6pPr>
              <a:defRPr sz="2325" b="1">
                <a:solidFill>
                  <a:srgbClr val="BD551E"/>
                </a:solidFill>
                <a:latin typeface="Helvetica Neue"/>
                <a:ea typeface="Helvetica Neue"/>
                <a:cs typeface="Helvetica Neue"/>
              </a:defRPr>
            </a:lvl6pPr>
            <a:lvl7pPr>
              <a:defRPr sz="2325" b="1">
                <a:solidFill>
                  <a:srgbClr val="BD551E"/>
                </a:solidFill>
                <a:latin typeface="Helvetica Neue"/>
                <a:ea typeface="Helvetica Neue"/>
                <a:cs typeface="Helvetica Neue"/>
              </a:defRPr>
            </a:lvl7pPr>
            <a:lvl8pPr>
              <a:defRPr sz="2325" b="1">
                <a:solidFill>
                  <a:srgbClr val="BD551E"/>
                </a:solidFill>
                <a:latin typeface="Helvetica Neue"/>
                <a:ea typeface="Helvetica Neue"/>
                <a:cs typeface="Helvetica Neue"/>
              </a:defRPr>
            </a:lvl8pPr>
            <a:lvl9pPr>
              <a:defRPr sz="2325" b="1">
                <a:solidFill>
                  <a:srgbClr val="BD551E"/>
                </a:solidFill>
                <a:latin typeface="Helvetica Neue"/>
                <a:ea typeface="Helvetica Neue"/>
                <a:cs typeface="Helvetica Neue"/>
              </a:defRPr>
            </a:lvl9pPr>
          </a:lstStyle>
          <a:p xmlns:a="http://schemas.openxmlformats.org/drawingml/2006/main">
            <a:pPr>
              <a:defRPr sz="2325" b="1">
                <a:solidFill>
                  <a:srgbClr val="BD551E"/>
                </a:solidFill>
                <a:latin typeface="Helvetica Neue"/>
                <a:ea typeface="Helvetica Neue"/>
                <a:cs typeface="Helvetica Neue"/>
              </a:defRPr>
            </a:pPr>
            <a:r>
              <a:rPr sz="2325" b="1">
                <a:solidFill>
                  <a:srgbClr val="BD551E"/>
                </a:solidFill>
                <a:latin typeface="Helvetica Neue"/>
                <a:ea typeface="Helvetica Neue"/>
                <a:cs typeface="Helvetica Neue"/>
              </a:rPr>
              <a:t>Substantial AI contribution</a:t>
            </a:r>
          </a:p>
        </p:txBody>
      </p:sp>
      <p:sp>
        <p:nvSpPr>
          <p:cNvPr id="5" name="">
            <a:extLst xmlns:a="http://schemas.openxmlformats.org/drawingml/2006/main">
              <a:ext uri="{FF2B5EF4-FFF2-40B4-BE49-F238E27FC236}">
                <a16:creationId xmlns:a16="http://schemas.microsoft.com/office/drawing/2014/main" id="{9213D5F7-ACF1-418A-AB3A-98EF8036A745}"/>
              </a:ext>
            </a:extLst>
          </p:cNvPr>
          <p:cNvSpPr>
            <a:spLocks xmlns:a="http://schemas.openxmlformats.org/drawingml/2006/main" noGrp="1"/>
          </p:cNvSpPr>
          <p:nvPr/>
        </p:nvSpPr>
        <p:spPr>
          <a:xfrm xmlns:a="http://schemas.openxmlformats.org/drawingml/2006/main">
            <a:off x="6762750" y="2209800"/>
            <a:ext cx="46672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32A3A"/>
                </a:solidFill>
                <a:latin typeface="Helvetica Neue"/>
                <a:ea typeface="Helvetica Neue"/>
                <a:cs typeface="Helvetica Neue"/>
              </a:defRPr>
            </a:defPPr>
            <a:lvl1pPr>
              <a:defRPr sz="2100" b="0">
                <a:solidFill>
                  <a:srgbClr val="132A3A"/>
                </a:solidFill>
                <a:latin typeface="Helvetica Neue"/>
                <a:ea typeface="Helvetica Neue"/>
                <a:cs typeface="Helvetica Neue"/>
              </a:defRPr>
            </a:lvl1pPr>
            <a:lvl2pPr>
              <a:defRPr sz="2100" b="0">
                <a:solidFill>
                  <a:srgbClr val="132A3A"/>
                </a:solidFill>
                <a:latin typeface="Helvetica Neue"/>
                <a:ea typeface="Helvetica Neue"/>
                <a:cs typeface="Helvetica Neue"/>
              </a:defRPr>
            </a:lvl2pPr>
            <a:lvl3pPr>
              <a:defRPr sz="2100" b="0">
                <a:solidFill>
                  <a:srgbClr val="132A3A"/>
                </a:solidFill>
                <a:latin typeface="Helvetica Neue"/>
                <a:ea typeface="Helvetica Neue"/>
                <a:cs typeface="Helvetica Neue"/>
              </a:defRPr>
            </a:lvl3pPr>
            <a:lvl4pPr>
              <a:defRPr sz="2100" b="0">
                <a:solidFill>
                  <a:srgbClr val="132A3A"/>
                </a:solidFill>
                <a:latin typeface="Helvetica Neue"/>
                <a:ea typeface="Helvetica Neue"/>
                <a:cs typeface="Helvetica Neue"/>
              </a:defRPr>
            </a:lvl4pPr>
            <a:lvl5pPr>
              <a:defRPr sz="2100" b="0">
                <a:solidFill>
                  <a:srgbClr val="132A3A"/>
                </a:solidFill>
                <a:latin typeface="Helvetica Neue"/>
                <a:ea typeface="Helvetica Neue"/>
                <a:cs typeface="Helvetica Neue"/>
              </a:defRPr>
            </a:lvl5pPr>
            <a:lvl6pPr>
              <a:defRPr sz="2100" b="0">
                <a:solidFill>
                  <a:srgbClr val="132A3A"/>
                </a:solidFill>
                <a:latin typeface="Helvetica Neue"/>
                <a:ea typeface="Helvetica Neue"/>
                <a:cs typeface="Helvetica Neue"/>
              </a:defRPr>
            </a:lvl6pPr>
            <a:lvl7pPr>
              <a:defRPr sz="2100" b="0">
                <a:solidFill>
                  <a:srgbClr val="132A3A"/>
                </a:solidFill>
                <a:latin typeface="Helvetica Neue"/>
                <a:ea typeface="Helvetica Neue"/>
                <a:cs typeface="Helvetica Neue"/>
              </a:defRPr>
            </a:lvl7pPr>
            <a:lvl8pPr>
              <a:defRPr sz="2100" b="0">
                <a:solidFill>
                  <a:srgbClr val="132A3A"/>
                </a:solidFill>
                <a:latin typeface="Helvetica Neue"/>
                <a:ea typeface="Helvetica Neue"/>
                <a:cs typeface="Helvetica Neue"/>
              </a:defRPr>
            </a:lvl8pPr>
            <a:lvl9pPr>
              <a:defRPr sz="2100" b="0">
                <a:solidFill>
                  <a:srgbClr val="132A3A"/>
                </a:solidFill>
                <a:latin typeface="Helvetica Neue"/>
                <a:ea typeface="Helvetica Neue"/>
                <a:cs typeface="Helvetica Neue"/>
              </a:defRPr>
            </a:lvl9pPr>
          </a:lstStyle>
          <a:p xmlns:a="http://schemas.openxmlformats.org/drawingml/2006/main">
            <a:pPr>
              <a:defRPr sz="2100" b="0">
                <a:solidFill>
                  <a:srgbClr val="132A3A"/>
                </a:solidFill>
                <a:latin typeface="Helvetica Neue"/>
                <a:ea typeface="Helvetica Neue"/>
                <a:cs typeface="Helvetica Neue"/>
              </a:defRPr>
            </a:pPr>
            <a:r>
              <a:rPr sz="2100" b="0">
                <a:solidFill>
                  <a:srgbClr val="132A3A"/>
                </a:solidFill>
                <a:latin typeface="Helvetica Neue"/>
                <a:ea typeface="Helvetica Neue"/>
                <a:cs typeface="Helvetica Neue"/>
              </a:rPr>
              <a:t>Codex authored substantial code, tests, analysis and report drafts.</a:t>
            </a:r>
          </a:p>
          <a:p xmlns:a="http://schemas.openxmlformats.org/drawingml/2006/main">
            <a:r>
              <a:t/>
            </a:r>
          </a:p>
          <a:p xmlns:a="http://schemas.openxmlformats.org/drawingml/2006/main">
            <a:pPr>
              <a:defRPr sz="2100" b="0">
                <a:solidFill>
                  <a:srgbClr val="132A3A"/>
                </a:solidFill>
                <a:latin typeface="Helvetica Neue"/>
                <a:ea typeface="Helvetica Neue"/>
                <a:cs typeface="Helvetica Neue"/>
              </a:defRPr>
            </a:pPr>
            <a:r>
              <a:rPr sz="2100" b="0">
                <a:solidFill>
                  <a:srgbClr val="132A3A"/>
                </a:solidFill>
                <a:latin typeface="Helvetica Neue"/>
                <a:ea typeface="Helvetica Neue"/>
                <a:cs typeface="Helvetica Neue"/>
              </a:rPr>
              <a:t>Student review and independent understanding remain essential.</a:t>
            </a:r>
          </a:p>
        </p:txBody>
      </p:sp>
      <p:sp>
        <p:nvSpPr>
          <p:cNvPr id="6" name="">
            <a:extLst xmlns:a="http://schemas.openxmlformats.org/drawingml/2006/main">
              <a:ext uri="{FF2B5EF4-FFF2-40B4-BE49-F238E27FC236}">
                <a16:creationId xmlns:a16="http://schemas.microsoft.com/office/drawing/2014/main" id="{7C5FF0E8-172A-4D43-AEF1-A3FBA8F93F61}"/>
              </a:ext>
            </a:extLst>
          </p:cNvPr>
          <p:cNvSpPr>
            <a:spLocks xmlns:a="http://schemas.openxmlformats.org/drawingml/2006/main" noGrp="1"/>
          </p:cNvSpPr>
          <p:nvPr/>
        </p:nvSpPr>
        <p:spPr>
          <a:xfrm xmlns:a="http://schemas.openxmlformats.org/drawingml/2006/main">
            <a:off x="609600" y="5429250"/>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132A3A"/>
                </a:solidFill>
                <a:latin typeface="Helvetica Neue"/>
                <a:ea typeface="Helvetica Neue"/>
                <a:cs typeface="Helvetica Neue"/>
              </a:defRPr>
            </a:defPPr>
            <a:lvl1pPr>
              <a:defRPr sz="2025" b="1">
                <a:solidFill>
                  <a:srgbClr val="132A3A"/>
                </a:solidFill>
                <a:latin typeface="Helvetica Neue"/>
                <a:ea typeface="Helvetica Neue"/>
                <a:cs typeface="Helvetica Neue"/>
              </a:defRPr>
            </a:lvl1pPr>
            <a:lvl2pPr>
              <a:defRPr sz="2025" b="1">
                <a:solidFill>
                  <a:srgbClr val="132A3A"/>
                </a:solidFill>
                <a:latin typeface="Helvetica Neue"/>
                <a:ea typeface="Helvetica Neue"/>
                <a:cs typeface="Helvetica Neue"/>
              </a:defRPr>
            </a:lvl2pPr>
            <a:lvl3pPr>
              <a:defRPr sz="2025" b="1">
                <a:solidFill>
                  <a:srgbClr val="132A3A"/>
                </a:solidFill>
                <a:latin typeface="Helvetica Neue"/>
                <a:ea typeface="Helvetica Neue"/>
                <a:cs typeface="Helvetica Neue"/>
              </a:defRPr>
            </a:lvl3pPr>
            <a:lvl4pPr>
              <a:defRPr sz="2025" b="1">
                <a:solidFill>
                  <a:srgbClr val="132A3A"/>
                </a:solidFill>
                <a:latin typeface="Helvetica Neue"/>
                <a:ea typeface="Helvetica Neue"/>
                <a:cs typeface="Helvetica Neue"/>
              </a:defRPr>
            </a:lvl4pPr>
            <a:lvl5pPr>
              <a:defRPr sz="2025" b="1">
                <a:solidFill>
                  <a:srgbClr val="132A3A"/>
                </a:solidFill>
                <a:latin typeface="Helvetica Neue"/>
                <a:ea typeface="Helvetica Neue"/>
                <a:cs typeface="Helvetica Neue"/>
              </a:defRPr>
            </a:lvl5pPr>
            <a:lvl6pPr>
              <a:defRPr sz="2025" b="1">
                <a:solidFill>
                  <a:srgbClr val="132A3A"/>
                </a:solidFill>
                <a:latin typeface="Helvetica Neue"/>
                <a:ea typeface="Helvetica Neue"/>
                <a:cs typeface="Helvetica Neue"/>
              </a:defRPr>
            </a:lvl6pPr>
            <a:lvl7pPr>
              <a:defRPr sz="2025" b="1">
                <a:solidFill>
                  <a:srgbClr val="132A3A"/>
                </a:solidFill>
                <a:latin typeface="Helvetica Neue"/>
                <a:ea typeface="Helvetica Neue"/>
                <a:cs typeface="Helvetica Neue"/>
              </a:defRPr>
            </a:lvl7pPr>
            <a:lvl8pPr>
              <a:defRPr sz="2025" b="1">
                <a:solidFill>
                  <a:srgbClr val="132A3A"/>
                </a:solidFill>
                <a:latin typeface="Helvetica Neue"/>
                <a:ea typeface="Helvetica Neue"/>
                <a:cs typeface="Helvetica Neue"/>
              </a:defRPr>
            </a:lvl8pPr>
            <a:lvl9pPr>
              <a:defRPr sz="2025" b="1">
                <a:solidFill>
                  <a:srgbClr val="132A3A"/>
                </a:solidFill>
                <a:latin typeface="Helvetica Neue"/>
                <a:ea typeface="Helvetica Neue"/>
                <a:cs typeface="Helvetica Neue"/>
              </a:defRPr>
            </a:lvl9pPr>
          </a:lstStyle>
          <a:p xmlns:a="http://schemas.openxmlformats.org/drawingml/2006/main">
            <a:pPr>
              <a:defRPr sz="2025" b="1">
                <a:solidFill>
                  <a:srgbClr val="132A3A"/>
                </a:solidFill>
                <a:latin typeface="Helvetica Neue"/>
                <a:ea typeface="Helvetica Neue"/>
                <a:cs typeface="Helvetica Neue"/>
              </a:defRPr>
            </a:pPr>
            <a:r>
              <a:rPr sz="2025" b="1">
                <a:solidFill>
                  <a:srgbClr val="132A3A"/>
                </a:solidFill>
                <a:latin typeface="Helvetica Neue"/>
                <a:ea typeface="Helvetica Neue"/>
                <a:cs typeface="Helvetica Neue"/>
              </a:rPr>
              <a:t>The final setting meets the checked numerical targets. Real plate predictions still need experimental evidence.</a:t>
            </a:r>
          </a:p>
        </p:txBody>
      </p:sp>
    </p:spTree>
    <p:extLst>
      <p:ext uri="{BB962C8B-B14F-4D97-AF65-F5344CB8AC3E}">
        <p14:creationId xmlns:p14="http://schemas.microsoft.com/office/powerpoint/2010/main" val="11793925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2026-10-24T08:49:53.6010000Z</dcterms:created>
  <dcterms:modified xsi:type="dcterms:W3CDTF">2026-10-24T08:49:53.6010000Z</dcterms:modified>
</coreProperties>
</file>